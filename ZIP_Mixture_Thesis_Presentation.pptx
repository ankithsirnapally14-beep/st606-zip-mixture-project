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8"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7" y="8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ARI</c:v>
                </c:pt>
              </c:strCache>
            </c:strRef>
          </c:tx>
          <c:spPr>
            <a:solidFill>
              <a:srgbClr val="C53030"/>
            </a:solidFill>
            <a:effectLst/>
          </c:spPr>
          <c:invertIfNegative val="0"/>
          <c:dPt>
            <c:idx val="0"/>
            <c:invertIfNegative val="0"/>
            <c:bubble3D val="0"/>
            <c:extLst>
              <c:ext xmlns:c16="http://schemas.microsoft.com/office/drawing/2014/chart" uri="{C3380CC4-5D6E-409C-BE32-E72D297353CC}">
                <c16:uniqueId val="{00000001-4C2E-4A8A-8233-C3E4F054D712}"/>
              </c:ext>
            </c:extLst>
          </c:dPt>
          <c:dPt>
            <c:idx val="1"/>
            <c:invertIfNegative val="0"/>
            <c:bubble3D val="0"/>
            <c:spPr>
              <a:solidFill>
                <a:srgbClr val="0D7377"/>
              </a:solidFill>
              <a:effectLst/>
            </c:spPr>
            <c:extLst>
              <c:ext xmlns:c16="http://schemas.microsoft.com/office/drawing/2014/chart" uri="{C3380CC4-5D6E-409C-BE32-E72D297353CC}">
                <c16:uniqueId val="{00000003-4C2E-4A8A-8233-C3E4F054D712}"/>
              </c:ext>
            </c:extLst>
          </c:dPt>
          <c:dPt>
            <c:idx val="2"/>
            <c:invertIfNegative val="0"/>
            <c:bubble3D val="0"/>
            <c:spPr>
              <a:solidFill>
                <a:srgbClr val="1B2A4A"/>
              </a:solidFill>
              <a:effectLst/>
            </c:spPr>
            <c:extLst>
              <c:ext xmlns:c16="http://schemas.microsoft.com/office/drawing/2014/chart" uri="{C3380CC4-5D6E-409C-BE32-E72D297353CC}">
                <c16:uniqueId val="{00000005-4C2E-4A8A-8233-C3E4F054D712}"/>
              </c:ext>
            </c:extLst>
          </c:dPt>
          <c:dPt>
            <c:idx val="3"/>
            <c:invertIfNegative val="0"/>
            <c:bubble3D val="0"/>
            <c:spPr>
              <a:solidFill>
                <a:srgbClr val="E8A838"/>
              </a:solidFill>
              <a:effectLst/>
            </c:spPr>
            <c:extLst>
              <c:ext xmlns:c16="http://schemas.microsoft.com/office/drawing/2014/chart" uri="{C3380CC4-5D6E-409C-BE32-E72D297353CC}">
                <c16:uniqueId val="{00000007-4C2E-4A8A-8233-C3E4F054D712}"/>
              </c:ext>
            </c:extLst>
          </c:dPt>
          <c:dLbls>
            <c:numFmt formatCode="#,##0" sourceLinked="0"/>
            <c:spPr>
              <a:noFill/>
              <a:ln>
                <a:noFill/>
              </a:ln>
              <a:effectLst/>
            </c:spPr>
            <c:txPr>
              <a:bodyPr/>
              <a:lstStyle/>
              <a:p>
                <a:pPr>
                  <a:defRPr sz="130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Anscombe
+ mclust</c:v>
                </c:pt>
                <c:pt idx="1">
                  <c:v>Poisson EM</c:v>
                </c:pt>
                <c:pt idx="2">
                  <c:v>ZIP EM
(Proposed)</c:v>
                </c:pt>
                <c:pt idx="3">
                  <c:v>flexmix</c:v>
                </c:pt>
              </c:strCache>
            </c:strRef>
          </c:cat>
          <c:val>
            <c:numRef>
              <c:f>Sheet1!$B$2:$B$5</c:f>
              <c:numCache>
                <c:formatCode>General</c:formatCode>
                <c:ptCount val="4"/>
                <c:pt idx="0">
                  <c:v>6.9000000000000006E-2</c:v>
                </c:pt>
                <c:pt idx="1">
                  <c:v>0.85799999999999998</c:v>
                </c:pt>
                <c:pt idx="2">
                  <c:v>0.89600000000000002</c:v>
                </c:pt>
                <c:pt idx="3">
                  <c:v>0.40699999999999997</c:v>
                </c:pt>
              </c:numCache>
            </c:numRef>
          </c:val>
          <c:extLst>
            <c:ext xmlns:c16="http://schemas.microsoft.com/office/drawing/2014/chart" uri="{C3380CC4-5D6E-409C-BE32-E72D297353CC}">
              <c16:uniqueId val="{00000008-4C2E-4A8A-8233-C3E4F054D71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time (ms)</c:v>
                </c:pt>
              </c:strCache>
            </c:strRef>
          </c:tx>
          <c:spPr>
            <a:solidFill>
              <a:srgbClr val="C53030"/>
            </a:solidFill>
            <a:effectLst/>
          </c:spPr>
          <c:invertIfNegative val="0"/>
          <c:dPt>
            <c:idx val="0"/>
            <c:invertIfNegative val="0"/>
            <c:bubble3D val="0"/>
            <c:extLst>
              <c:ext xmlns:c16="http://schemas.microsoft.com/office/drawing/2014/chart" uri="{C3380CC4-5D6E-409C-BE32-E72D297353CC}">
                <c16:uniqueId val="{00000001-B6E7-42BC-8F0A-84FD2DD37533}"/>
              </c:ext>
            </c:extLst>
          </c:dPt>
          <c:dPt>
            <c:idx val="1"/>
            <c:invertIfNegative val="0"/>
            <c:bubble3D val="0"/>
            <c:spPr>
              <a:solidFill>
                <a:srgbClr val="0D7377"/>
              </a:solidFill>
              <a:effectLst/>
            </c:spPr>
            <c:extLst>
              <c:ext xmlns:c16="http://schemas.microsoft.com/office/drawing/2014/chart" uri="{C3380CC4-5D6E-409C-BE32-E72D297353CC}">
                <c16:uniqueId val="{00000003-B6E7-42BC-8F0A-84FD2DD37533}"/>
              </c:ext>
            </c:extLst>
          </c:dPt>
          <c:dPt>
            <c:idx val="2"/>
            <c:invertIfNegative val="0"/>
            <c:bubble3D val="0"/>
            <c:spPr>
              <a:solidFill>
                <a:srgbClr val="1B2A4A"/>
              </a:solidFill>
              <a:effectLst/>
            </c:spPr>
            <c:extLst>
              <c:ext xmlns:c16="http://schemas.microsoft.com/office/drawing/2014/chart" uri="{C3380CC4-5D6E-409C-BE32-E72D297353CC}">
                <c16:uniqueId val="{00000005-B6E7-42BC-8F0A-84FD2DD37533}"/>
              </c:ext>
            </c:extLst>
          </c:dPt>
          <c:dLbls>
            <c:numFmt formatCode="#,##0" sourceLinked="0"/>
            <c:spPr>
              <a:noFill/>
              <a:ln>
                <a:noFill/>
              </a:ln>
              <a:effectLst/>
            </c:spPr>
            <c:txPr>
              <a:bodyPr/>
              <a:lstStyle/>
              <a:p>
                <a:pPr>
                  <a:defRPr sz="130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Anscombe
+ mclust</c:v>
                </c:pt>
                <c:pt idx="1">
                  <c:v>Poisson EM</c:v>
                </c:pt>
                <c:pt idx="2">
                  <c:v>ZIP EM</c:v>
                </c:pt>
              </c:strCache>
            </c:strRef>
          </c:cat>
          <c:val>
            <c:numRef>
              <c:f>Sheet1!$B$2:$B$4</c:f>
              <c:numCache>
                <c:formatCode>General</c:formatCode>
                <c:ptCount val="3"/>
                <c:pt idx="0">
                  <c:v>79.27</c:v>
                </c:pt>
                <c:pt idx="1">
                  <c:v>17.11</c:v>
                </c:pt>
                <c:pt idx="2">
                  <c:v>27.13</c:v>
                </c:pt>
              </c:numCache>
            </c:numRef>
          </c:val>
          <c:extLst>
            <c:ext xmlns:c16="http://schemas.microsoft.com/office/drawing/2014/chart" uri="{C3380CC4-5D6E-409C-BE32-E72D297353CC}">
              <c16:uniqueId val="{00000006-B6E7-42BC-8F0A-84FD2DD3753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0529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introduce yourself.
Say: "Good morning/afternoon. My name is Ankith Sirnapally, and today I'll be presenting my ST606 MSc thesis project, which investigates clustering count data using Poisson and Zero-Inflated Poisson mixture models. The presentation will take approximately 10 minutes."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practical motivation for clustering count data.
Say: "Count data is ubiquitous — for example, in genomics we might count gene expression reads across samples. A key challenge is that count data often has far more zeros than a standard Poisson distribution would predict. This is called zero-inflation. The existing approach of applying the Anscombe transformation and then using mclust is approximate. Our central research question is: can we do better by modelling the zero-inflation explicitly using a ZIP mixture model?"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56577-462F-0FC0-8CFC-EF59FC80B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99351-F96E-6B28-82F8-9ABBE51F6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FE5348-1336-401C-C4E7-671CC476FEFD}"/>
              </a:ext>
            </a:extLst>
          </p:cNvPr>
          <p:cNvSpPr>
            <a:spLocks noGrp="1"/>
          </p:cNvSpPr>
          <p:nvPr>
            <p:ph type="body" idx="1"/>
          </p:nvPr>
        </p:nvSpPr>
        <p:spPr/>
        <p:txBody>
          <a:bodyPr/>
          <a:lstStyle/>
          <a:p>
            <a:r>
              <a:rPr lang="en-US" dirty="0"/>
              <a:t>Explain the practical motivation for clustering count data.
Say: "Count data is ubiquitous — for example, in genomics we might count gene expression reads across samples. A key challenge is that count data often has far more zeros than a standard Poisson distribution would predict. This is called zero-inflation. The existing approach of applying the Anscombe transformation and then using mclust is approximate. Our central research question is: can we do better by modelling the zero-inflation explicitly using a ZIP mixture model?"
</a:t>
            </a:r>
          </a:p>
        </p:txBody>
      </p:sp>
      <p:sp>
        <p:nvSpPr>
          <p:cNvPr id="4" name="Slide Number Placeholder 3">
            <a:extLst>
              <a:ext uri="{FF2B5EF4-FFF2-40B4-BE49-F238E27FC236}">
                <a16:creationId xmlns:a16="http://schemas.microsoft.com/office/drawing/2014/main" id="{52AF3CAF-65B5-6BB4-8272-8FE2EB683E05}"/>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204130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models shown.
Say: "The Poisson distribution is the natural model for count data, with a single parameter lambda controlling the mean. The Zero-Inflated Poisson adds a second parameter omega — the probability of a structural zero — to handle excess zeros. We combine multiple ZIP components into a mixture model using G components and mixing weights. Under the independent product construction, features are modelled independently within each component, which is computationally tractable."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Anscombe transformation and its limitations.
Say: "The Anscombe transformation Y = 2 root of (X + 3/8) stabilises the variance of Poisson data, making it approximately normal. We can then apply standard Gaussian mixture models via mclust. This is computationally convenient, but it is an approximation — and crucially, it cannot model zero-inflation, which is a significant limitation when our data genuinely has excess zeros."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EM algorithm steps.
Say: "The EM algorithm alternates between an E-step — where we compute the probability that each observation belongs to each cluster — and an M-step — where we update the cluster parameters using those weighted assignments. The Poisson mixture EM converged in 21 iterations on our simulated dataset."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ZIP EM extensions.
Say: "To extend Poisson EM to ZIP, we need three key additions. First, the E-step now uses the ZIP likelihood. Second, we introduce a latent variable u-hat, which is the posterior probability that a zero observation came from the structural zero-inflation component rather than from a Poisson draw. Third, the M-step updates lambda by excluding the structural zeros weighted by u-hat, and updates omega as the average u-hat within each cluster."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simulation design.
Say: "We designed a factorial simulation study with 8 settings, varying sample size n, the number of components G, and the number of features p. For each setting, lambda and omega were drawn randomly to create genuine ZIP mixture data. We compare our ZIP EM against the Anscombe + mclust benchmark using the Adjusted Rand Index, where 1 means perfect cluster recovery."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main results.
Say: "The results are striking. Anscombe + mclust achieves an ARI of only 0.069, barely above random clustering. Our proposed ZIP EM achieves 0.896 — an enormous improvement. Poisson EM also performs well at 0.858, showing that direct count modelling already outperforms the transformation approach; adding zero-inflation modelling gives a further improvement."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parameter recovery.
Say: "Not only does ZIP EM cluster accurately — it also recovers the underlying parameters well. The estimated lambda and omega values closely match the true values across all five features and both components. Note that the label ordering may be permuted due to the label-switching problem inherent in mixture models. The algorithm converged in 43 iterations."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simulation table.
Say: "Across all eight simulation settings, ZIP EM consistently outperforms the Anscombe approach. Notably, when n=300 with two components, Anscombe achieves a negative ARI — indicating clustering worse than random — while ZIP EM still achieves 0.739. Higher p generally helps ZIP EM, as more features provide more discriminating information. The Anscombe approach struggles particularly when zero-inflation is high."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computational efficiency.
Say: "Despite being the most statistically sophisticated method, ZIP EM is actually faster than Anscombe + mclust — about three times faster in median timing. This is because mclust's model selection overhead is substantial. ZIP EM requires only about 10 milliseconds more than the simpler Poisson EM, making the zero-inflation extension computationally very affordable."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and conclude.
Say: "In conclusion, the Zero-Inflated Poisson mixture EM algorithm substantially outperforms the Anscombe transformation approach for clustering zero-inflated count data. It is accurate, interpretable, and computationally efficient. Future work includes applying this to real datasets — particularly in genomics where zero-inflation is common — and exploring richer count models such as the Poisson Log-Normal. Thank you, I am happy to take questions."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4" name="Text 2"/>
          <p:cNvSpPr/>
          <p:nvPr/>
        </p:nvSpPr>
        <p:spPr>
          <a:xfrm>
            <a:off x="457200" y="822960"/>
            <a:ext cx="6949440" cy="77724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Zero-Inflated Poisson Mixture Models</a:t>
            </a:r>
            <a:endParaRPr lang="en-US" sz="3200" dirty="0"/>
          </a:p>
        </p:txBody>
      </p:sp>
      <p:sp>
        <p:nvSpPr>
          <p:cNvPr id="5" name="Text 3"/>
          <p:cNvSpPr/>
          <p:nvPr/>
        </p:nvSpPr>
        <p:spPr>
          <a:xfrm>
            <a:off x="457200" y="1600200"/>
            <a:ext cx="6949440" cy="594360"/>
          </a:xfrm>
          <a:prstGeom prst="rect">
            <a:avLst/>
          </a:prstGeom>
          <a:noFill/>
          <a:ln/>
        </p:spPr>
        <p:txBody>
          <a:bodyPr wrap="square" rtlCol="0" anchor="ctr"/>
          <a:lstStyle/>
          <a:p>
            <a:pPr marL="0" indent="0" algn="l">
              <a:buNone/>
            </a:pPr>
            <a:r>
              <a:rPr lang="en-US" sz="2600" dirty="0">
                <a:solidFill>
                  <a:srgbClr val="A0C4D8"/>
                </a:solidFill>
                <a:latin typeface="Calibri" pitchFamily="34" charset="0"/>
                <a:ea typeface="Calibri" pitchFamily="34" charset="-122"/>
                <a:cs typeface="Calibri" pitchFamily="34" charset="-120"/>
              </a:rPr>
              <a:t>for Clustering Count Data</a:t>
            </a:r>
            <a:endParaRPr lang="en-US" sz="2600" dirty="0"/>
          </a:p>
        </p:txBody>
      </p:sp>
      <p:sp>
        <p:nvSpPr>
          <p:cNvPr id="6" name="Shape 4"/>
          <p:cNvSpPr/>
          <p:nvPr/>
        </p:nvSpPr>
        <p:spPr>
          <a:xfrm>
            <a:off x="457200" y="2331720"/>
            <a:ext cx="2286000" cy="45720"/>
          </a:xfrm>
          <a:prstGeom prst="rect">
            <a:avLst/>
          </a:prstGeom>
          <a:solidFill>
            <a:srgbClr val="E8A838"/>
          </a:solidFill>
          <a:ln w="12700">
            <a:solidFill>
              <a:srgbClr val="E8A838"/>
            </a:solidFill>
            <a:prstDash val="solid"/>
          </a:ln>
        </p:spPr>
      </p:sp>
      <p:sp>
        <p:nvSpPr>
          <p:cNvPr id="7" name="Text 5"/>
          <p:cNvSpPr/>
          <p:nvPr/>
        </p:nvSpPr>
        <p:spPr>
          <a:xfrm>
            <a:off x="457200" y="2514600"/>
            <a:ext cx="6400800" cy="1463040"/>
          </a:xfrm>
          <a:prstGeom prst="rect">
            <a:avLst/>
          </a:prstGeom>
          <a:noFill/>
          <a:ln/>
        </p:spPr>
        <p:txBody>
          <a:bodyPr wrap="square" rtlCol="0" anchor="ctr"/>
          <a:lstStyle/>
          <a:p>
            <a:pPr marL="0" indent="0" algn="l">
              <a:buNone/>
            </a:pPr>
            <a:r>
              <a:rPr lang="en-US" sz="1600" b="1" dirty="0">
                <a:solidFill>
                  <a:srgbClr val="C8DCEC"/>
                </a:solidFill>
                <a:latin typeface="Calibri" pitchFamily="34" charset="0"/>
                <a:ea typeface="Calibri" pitchFamily="34" charset="-122"/>
                <a:cs typeface="Calibri" pitchFamily="34" charset="-120"/>
              </a:rPr>
              <a:t>Ankith Sirnapally</a:t>
            </a:r>
            <a:endParaRPr lang="en-US" sz="1600" dirty="0"/>
          </a:p>
          <a:p>
            <a:pPr marL="0" indent="0" algn="l">
              <a:buNone/>
            </a:pPr>
            <a:r>
              <a:rPr lang="en-US" sz="1600" dirty="0">
                <a:solidFill>
                  <a:srgbClr val="C8DCEC"/>
                </a:solidFill>
                <a:latin typeface="Calibri" pitchFamily="34" charset="0"/>
                <a:ea typeface="Calibri" pitchFamily="34" charset="-122"/>
                <a:cs typeface="Calibri" pitchFamily="34" charset="-120"/>
              </a:rPr>
              <a:t>Student ID: 25253247</a:t>
            </a:r>
          </a:p>
          <a:p>
            <a:pPr marL="0" indent="0" algn="l">
              <a:buNone/>
            </a:pPr>
            <a:r>
              <a:rPr lang="en-US" sz="1600" dirty="0">
                <a:solidFill>
                  <a:srgbClr val="C8DCEC"/>
                </a:solidFill>
                <a:latin typeface="Calibri" pitchFamily="34" charset="0"/>
                <a:ea typeface="Calibri" pitchFamily="34" charset="-122"/>
                <a:cs typeface="Calibri" pitchFamily="34" charset="-120"/>
              </a:rPr>
              <a:t>Supervisor: Keefe Murphy</a:t>
            </a:r>
            <a:endParaRPr lang="en-US" sz="1600" dirty="0"/>
          </a:p>
          <a:p>
            <a:pPr marL="0" indent="0" algn="l">
              <a:buNone/>
            </a:pPr>
            <a:r>
              <a:rPr lang="en-US" sz="1600" dirty="0">
                <a:solidFill>
                  <a:srgbClr val="C8DCEC"/>
                </a:solidFill>
                <a:latin typeface="Calibri" pitchFamily="34" charset="0"/>
                <a:ea typeface="Calibri" pitchFamily="34" charset="-122"/>
                <a:cs typeface="Calibri" pitchFamily="34" charset="-120"/>
              </a:rPr>
              <a:t>ST606 MSc Thesis Project</a:t>
            </a:r>
            <a:endParaRPr lang="en-US" sz="1600" dirty="0"/>
          </a:p>
          <a:p>
            <a:pPr marL="0" indent="0" algn="l">
              <a:buNone/>
            </a:pPr>
            <a:r>
              <a:rPr lang="en-US" sz="1600" dirty="0">
                <a:solidFill>
                  <a:srgbClr val="C8DCEC"/>
                </a:solidFill>
                <a:latin typeface="Calibri" pitchFamily="34" charset="0"/>
                <a:ea typeface="Calibri" pitchFamily="34" charset="-122"/>
                <a:cs typeface="Calibri" pitchFamily="34" charset="-120"/>
              </a:rPr>
              <a:t>Maynooth University</a:t>
            </a:r>
            <a:endParaRPr lang="en-US" sz="1600" dirty="0"/>
          </a:p>
        </p:txBody>
      </p:sp>
      <p:sp>
        <p:nvSpPr>
          <p:cNvPr id="8" name="Text 6"/>
          <p:cNvSpPr/>
          <p:nvPr/>
        </p:nvSpPr>
        <p:spPr>
          <a:xfrm>
            <a:off x="457200" y="4663440"/>
            <a:ext cx="6400800" cy="320040"/>
          </a:xfrm>
          <a:prstGeom prst="rect">
            <a:avLst/>
          </a:prstGeom>
          <a:noFill/>
          <a:ln/>
        </p:spPr>
        <p:txBody>
          <a:bodyPr wrap="square" rtlCol="0" anchor="ctr"/>
          <a:lstStyle/>
          <a:p>
            <a:pPr marL="0" indent="0" algn="l">
              <a:buNone/>
            </a:pPr>
            <a:r>
              <a:rPr lang="en-US" sz="1200" dirty="0">
                <a:solidFill>
                  <a:srgbClr val="7A9BB5"/>
                </a:solidFill>
                <a:latin typeface="Calibri" pitchFamily="34" charset="0"/>
                <a:ea typeface="Calibri" pitchFamily="34" charset="-122"/>
                <a:cs typeface="Calibri" pitchFamily="34" charset="-120"/>
              </a:rPr>
              <a:t>Department of Mathematics and Statistics</a:t>
            </a:r>
            <a:endParaRPr lang="en-US" sz="1200" dirty="0"/>
          </a:p>
        </p:txBody>
      </p:sp>
      <p:pic>
        <p:nvPicPr>
          <p:cNvPr id="10" name="Picture 9">
            <a:extLst>
              <a:ext uri="{FF2B5EF4-FFF2-40B4-BE49-F238E27FC236}">
                <a16:creationId xmlns:a16="http://schemas.microsoft.com/office/drawing/2014/main" id="{DBF817F0-77D9-3E63-61C9-42D7018C92CE}"/>
              </a:ext>
            </a:extLst>
          </p:cNvPr>
          <p:cNvPicPr>
            <a:picLocks noChangeAspect="1"/>
          </p:cNvPicPr>
          <p:nvPr/>
        </p:nvPicPr>
        <p:blipFill>
          <a:blip r:embed="rId3"/>
          <a:stretch>
            <a:fillRect/>
          </a:stretch>
        </p:blipFill>
        <p:spPr>
          <a:xfrm>
            <a:off x="6996662" y="146495"/>
            <a:ext cx="2001034" cy="10589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Outline</a:t>
            </a:r>
            <a:endParaRPr lang="en-US" sz="2800" dirty="0"/>
          </a:p>
        </p:txBody>
      </p:sp>
      <p:sp>
        <p:nvSpPr>
          <p:cNvPr id="3" name="Shape 1"/>
          <p:cNvSpPr/>
          <p:nvPr/>
        </p:nvSpPr>
        <p:spPr>
          <a:xfrm>
            <a:off x="411480" y="738378"/>
            <a:ext cx="5135880" cy="56388"/>
          </a:xfrm>
          <a:prstGeom prst="rect">
            <a:avLst/>
          </a:prstGeom>
          <a:solidFill>
            <a:srgbClr val="0D7377"/>
          </a:solidFill>
          <a:ln w="12700">
            <a:solidFill>
              <a:srgbClr val="0D7377"/>
            </a:solidFill>
            <a:prstDash val="solid"/>
          </a:ln>
        </p:spPr>
      </p:sp>
      <p:sp>
        <p:nvSpPr>
          <p:cNvPr id="4" name="Shape 2"/>
          <p:cNvSpPr/>
          <p:nvPr/>
        </p:nvSpPr>
        <p:spPr>
          <a:xfrm>
            <a:off x="466344" y="803910"/>
            <a:ext cx="5081016" cy="3671316"/>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txBody>
          <a:bodyPr/>
          <a:lstStyle/>
          <a:p>
            <a:endParaRPr lang="en-IN" sz="1200" dirty="0"/>
          </a:p>
          <a:p>
            <a:r>
              <a:rPr lang="en-IN" sz="1400" dirty="0"/>
              <a:t>1. Motivation &amp; Research Question</a:t>
            </a:r>
          </a:p>
          <a:p>
            <a:endParaRPr lang="en-IN" sz="1400" dirty="0"/>
          </a:p>
          <a:p>
            <a:r>
              <a:rPr lang="en-IN" sz="1400" dirty="0"/>
              <a:t>2. Poisson and ZIP Models</a:t>
            </a:r>
          </a:p>
          <a:p>
            <a:endParaRPr lang="en-IN" sz="1400" dirty="0"/>
          </a:p>
          <a:p>
            <a:r>
              <a:rPr lang="en-IN" sz="1400" dirty="0"/>
              <a:t>3. Anscombe Transformation</a:t>
            </a:r>
          </a:p>
          <a:p>
            <a:endParaRPr lang="en-IN" sz="1400" dirty="0"/>
          </a:p>
          <a:p>
            <a:r>
              <a:rPr lang="en-IN" sz="1400" dirty="0"/>
              <a:t>4. EM Algorithm</a:t>
            </a:r>
          </a:p>
          <a:p>
            <a:endParaRPr lang="en-IN" sz="1400" dirty="0"/>
          </a:p>
          <a:p>
            <a:r>
              <a:rPr lang="en-IN" sz="1400" dirty="0"/>
              <a:t>5. ZIP Mixture Extension</a:t>
            </a:r>
          </a:p>
          <a:p>
            <a:endParaRPr lang="en-IN" sz="1400" dirty="0"/>
          </a:p>
          <a:p>
            <a:r>
              <a:rPr lang="en-IN" sz="1400" dirty="0"/>
              <a:t>6. Simulation Study</a:t>
            </a:r>
          </a:p>
          <a:p>
            <a:endParaRPr lang="en-IN" sz="1400" dirty="0"/>
          </a:p>
          <a:p>
            <a:r>
              <a:rPr lang="en-IN" sz="1400" dirty="0"/>
              <a:t>7. Results and Discussion</a:t>
            </a:r>
          </a:p>
          <a:p>
            <a:endParaRPr lang="en-IN" sz="1400" dirty="0"/>
          </a:p>
          <a:p>
            <a:r>
              <a:rPr lang="en-IN" sz="1400" dirty="0"/>
              <a:t>8. Conclusions &amp; Future Work</a:t>
            </a:r>
          </a:p>
        </p:txBody>
      </p:sp>
      <p:sp>
        <p:nvSpPr>
          <p:cNvPr id="5" name="Shape 3"/>
          <p:cNvSpPr/>
          <p:nvPr/>
        </p:nvSpPr>
        <p:spPr>
          <a:xfrm>
            <a:off x="411480" y="833628"/>
            <a:ext cx="54864" cy="3611880"/>
          </a:xfrm>
          <a:prstGeom prst="rect">
            <a:avLst/>
          </a:prstGeom>
          <a:solidFill>
            <a:srgbClr val="0D7377"/>
          </a:solidFill>
          <a:ln w="12700">
            <a:solidFill>
              <a:srgbClr val="0D7377"/>
            </a:solidFill>
            <a:prstDash val="solid"/>
          </a:ln>
        </p:spPr>
      </p:sp>
      <p:sp>
        <p:nvSpPr>
          <p:cNvPr id="6" name="Text 4"/>
          <p:cNvSpPr/>
          <p:nvPr/>
        </p:nvSpPr>
        <p:spPr>
          <a:xfrm>
            <a:off x="640080" y="1005840"/>
            <a:ext cx="3749040" cy="365760"/>
          </a:xfrm>
          <a:prstGeom prst="rect">
            <a:avLst/>
          </a:prstGeom>
          <a:noFill/>
          <a:ln/>
        </p:spPr>
        <p:txBody>
          <a:bodyPr wrap="square" rtlCol="0" anchor="ctr"/>
          <a:lstStyle/>
          <a:p>
            <a:pPr marL="0" indent="0">
              <a:buNone/>
            </a:pPr>
            <a:endParaRPr lang="en-US" sz="1600" dirty="0"/>
          </a:p>
        </p:txBody>
      </p:sp>
      <p:sp>
        <p:nvSpPr>
          <p:cNvPr id="7" name="Text 5"/>
          <p:cNvSpPr/>
          <p:nvPr/>
        </p:nvSpPr>
        <p:spPr>
          <a:xfrm>
            <a:off x="560832" y="1027176"/>
            <a:ext cx="3828288" cy="3224784"/>
          </a:xfrm>
          <a:prstGeom prst="rect">
            <a:avLst/>
          </a:prstGeom>
          <a:noFill/>
          <a:ln/>
        </p:spPr>
        <p:txBody>
          <a:bodyPr wrap="square" rtlCol="0" anchor="ctr"/>
          <a:lstStyle/>
          <a:p>
            <a:pPr>
              <a:spcAft>
                <a:spcPts val="500"/>
              </a:spcAft>
              <a:buSzPct val="100000"/>
            </a:pPr>
            <a:endParaRPr lang="en-US" sz="1300" dirty="0"/>
          </a:p>
        </p:txBody>
      </p:sp>
      <p:sp>
        <p:nvSpPr>
          <p:cNvPr id="10" name="Text 8"/>
          <p:cNvSpPr/>
          <p:nvPr/>
        </p:nvSpPr>
        <p:spPr>
          <a:xfrm>
            <a:off x="4983480" y="1005840"/>
            <a:ext cx="3566160" cy="365760"/>
          </a:xfrm>
          <a:prstGeom prst="rect">
            <a:avLst/>
          </a:prstGeom>
          <a:noFill/>
          <a:ln/>
        </p:spPr>
        <p:txBody>
          <a:bodyPr wrap="square" rtlCol="0" anchor="ctr"/>
          <a:lstStyle/>
          <a:p>
            <a:pPr marL="0" indent="0">
              <a:buNone/>
            </a:pPr>
            <a:endParaRPr lang="en-US" sz="1600" dirty="0"/>
          </a:p>
        </p:txBody>
      </p:sp>
      <p:sp>
        <p:nvSpPr>
          <p:cNvPr id="11" name="Text 9"/>
          <p:cNvSpPr/>
          <p:nvPr/>
        </p:nvSpPr>
        <p:spPr>
          <a:xfrm>
            <a:off x="4983480" y="1463040"/>
            <a:ext cx="3566160" cy="1463040"/>
          </a:xfrm>
          <a:prstGeom prst="rect">
            <a:avLst/>
          </a:prstGeom>
          <a:noFill/>
          <a:ln/>
        </p:spPr>
        <p:txBody>
          <a:bodyPr wrap="square" rtlCol="0" anchor="ctr"/>
          <a:lstStyle/>
          <a:p>
            <a:pPr marL="0" indent="0">
              <a:buNone/>
            </a:pPr>
            <a:endParaRPr lang="en-US" sz="1400" dirty="0"/>
          </a:p>
        </p:txBody>
      </p:sp>
      <p:sp>
        <p:nvSpPr>
          <p:cNvPr id="13" name="Text 11"/>
          <p:cNvSpPr/>
          <p:nvPr/>
        </p:nvSpPr>
        <p:spPr>
          <a:xfrm>
            <a:off x="4983480" y="3200400"/>
            <a:ext cx="3566160" cy="1097280"/>
          </a:xfrm>
          <a:prstGeom prst="rect">
            <a:avLst/>
          </a:prstGeom>
          <a:noFill/>
          <a:ln/>
        </p:spPr>
        <p:txBody>
          <a:bodyPr wrap="square" rtlCol="0" anchor="ctr"/>
          <a:lstStyle/>
          <a:p>
            <a:pPr marL="0" indent="0">
              <a:buNone/>
            </a:pP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a:extLst>
            <a:ext uri="{FF2B5EF4-FFF2-40B4-BE49-F238E27FC236}">
              <a16:creationId xmlns:a16="http://schemas.microsoft.com/office/drawing/2014/main" id="{88BAC8EA-D496-6E32-EDFF-2A5BB570F8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A106452-3A34-A928-078E-A5E277360315}"/>
              </a:ext>
            </a:extLst>
          </p:cNvPr>
          <p:cNvSpPr/>
          <p:nvPr/>
        </p:nvSpPr>
        <p:spPr>
          <a:xfrm>
            <a:off x="411480" y="164592"/>
            <a:ext cx="832104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Motivation &amp; Research Question</a:t>
            </a:r>
            <a:endParaRPr lang="en-US" sz="2800" dirty="0"/>
          </a:p>
        </p:txBody>
      </p:sp>
      <p:sp>
        <p:nvSpPr>
          <p:cNvPr id="3" name="Shape 1">
            <a:extLst>
              <a:ext uri="{FF2B5EF4-FFF2-40B4-BE49-F238E27FC236}">
                <a16:creationId xmlns:a16="http://schemas.microsoft.com/office/drawing/2014/main" id="{84DA11F4-7FF7-A7BA-7636-F0ED44ABB665}"/>
              </a:ext>
            </a:extLst>
          </p:cNvPr>
          <p:cNvSpPr/>
          <p:nvPr/>
        </p:nvSpPr>
        <p:spPr>
          <a:xfrm>
            <a:off x="411480" y="786384"/>
            <a:ext cx="8321040" cy="32004"/>
          </a:xfrm>
          <a:prstGeom prst="rect">
            <a:avLst/>
          </a:prstGeom>
          <a:solidFill>
            <a:srgbClr val="0D7377"/>
          </a:solidFill>
          <a:ln w="12700">
            <a:solidFill>
              <a:srgbClr val="0D7377"/>
            </a:solidFill>
            <a:prstDash val="solid"/>
          </a:ln>
        </p:spPr>
      </p:sp>
      <p:sp>
        <p:nvSpPr>
          <p:cNvPr id="4" name="Shape 2">
            <a:extLst>
              <a:ext uri="{FF2B5EF4-FFF2-40B4-BE49-F238E27FC236}">
                <a16:creationId xmlns:a16="http://schemas.microsoft.com/office/drawing/2014/main" id="{29E4B99B-93A6-8072-A5AA-243E9BE6BEA2}"/>
              </a:ext>
            </a:extLst>
          </p:cNvPr>
          <p:cNvSpPr/>
          <p:nvPr/>
        </p:nvSpPr>
        <p:spPr>
          <a:xfrm>
            <a:off x="411480" y="914400"/>
            <a:ext cx="4114800" cy="361188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 name="Shape 3">
            <a:extLst>
              <a:ext uri="{FF2B5EF4-FFF2-40B4-BE49-F238E27FC236}">
                <a16:creationId xmlns:a16="http://schemas.microsoft.com/office/drawing/2014/main" id="{59782F7C-96E8-29CF-728C-9494B8BA6C33}"/>
              </a:ext>
            </a:extLst>
          </p:cNvPr>
          <p:cNvSpPr/>
          <p:nvPr/>
        </p:nvSpPr>
        <p:spPr>
          <a:xfrm>
            <a:off x="411480" y="914400"/>
            <a:ext cx="54864" cy="3611880"/>
          </a:xfrm>
          <a:prstGeom prst="rect">
            <a:avLst/>
          </a:prstGeom>
          <a:solidFill>
            <a:srgbClr val="0D7377"/>
          </a:solidFill>
          <a:ln w="12700">
            <a:solidFill>
              <a:srgbClr val="0D7377"/>
            </a:solidFill>
            <a:prstDash val="solid"/>
          </a:ln>
        </p:spPr>
      </p:sp>
      <p:sp>
        <p:nvSpPr>
          <p:cNvPr id="6" name="Text 4">
            <a:extLst>
              <a:ext uri="{FF2B5EF4-FFF2-40B4-BE49-F238E27FC236}">
                <a16:creationId xmlns:a16="http://schemas.microsoft.com/office/drawing/2014/main" id="{B97CC77C-F823-BE3B-D5D7-27B8958F6A15}"/>
              </a:ext>
            </a:extLst>
          </p:cNvPr>
          <p:cNvSpPr/>
          <p:nvPr/>
        </p:nvSpPr>
        <p:spPr>
          <a:xfrm>
            <a:off x="640080" y="1005840"/>
            <a:ext cx="3749040" cy="365760"/>
          </a:xfrm>
          <a:prstGeom prst="rect">
            <a:avLst/>
          </a:prstGeom>
          <a:noFill/>
          <a:ln/>
        </p:spPr>
        <p:txBody>
          <a:bodyPr wrap="square"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Why This Problem?</a:t>
            </a:r>
            <a:endParaRPr lang="en-US" sz="1600" dirty="0"/>
          </a:p>
        </p:txBody>
      </p:sp>
      <p:sp>
        <p:nvSpPr>
          <p:cNvPr id="7" name="Text 5">
            <a:extLst>
              <a:ext uri="{FF2B5EF4-FFF2-40B4-BE49-F238E27FC236}">
                <a16:creationId xmlns:a16="http://schemas.microsoft.com/office/drawing/2014/main" id="{9853DEBF-E4B0-318D-5C4C-D68479DACA4E}"/>
              </a:ext>
            </a:extLst>
          </p:cNvPr>
          <p:cNvSpPr/>
          <p:nvPr/>
        </p:nvSpPr>
        <p:spPr>
          <a:xfrm>
            <a:off x="685800" y="1417320"/>
            <a:ext cx="3703320" cy="2834640"/>
          </a:xfrm>
          <a:prstGeom prst="rect">
            <a:avLst/>
          </a:prstGeom>
          <a:noFill/>
          <a:ln/>
        </p:spPr>
        <p:txBody>
          <a:bodyPr wrap="square" rtlCol="0" anchor="ctr"/>
          <a:lstStyle/>
          <a:p>
            <a:pPr marL="342900" indent="-342900">
              <a:spcAft>
                <a:spcPts val="500"/>
              </a:spcAft>
              <a:buSzPct val="100000"/>
              <a:buChar char="•"/>
            </a:pPr>
            <a:r>
              <a:rPr lang="en-US" sz="1300" dirty="0">
                <a:solidFill>
                  <a:srgbClr val="4A5568"/>
                </a:solidFill>
                <a:latin typeface="Calibri" pitchFamily="34" charset="0"/>
                <a:ea typeface="Calibri" pitchFamily="34" charset="-122"/>
                <a:cs typeface="Calibri" pitchFamily="34" charset="-120"/>
              </a:rPr>
              <a:t>Count data arises in genomics, ecology, finance, and NLP</a:t>
            </a:r>
            <a:endParaRPr lang="en-US" sz="1300" dirty="0"/>
          </a:p>
          <a:p>
            <a:pPr marL="342900" indent="-342900">
              <a:spcAft>
                <a:spcPts val="500"/>
              </a:spcAft>
              <a:buSzPct val="100000"/>
              <a:buChar char="•"/>
            </a:pPr>
            <a:r>
              <a:rPr lang="en-US" sz="1300" dirty="0">
                <a:solidFill>
                  <a:srgbClr val="4A5568"/>
                </a:solidFill>
                <a:latin typeface="Calibri" pitchFamily="34" charset="0"/>
                <a:ea typeface="Calibri" pitchFamily="34" charset="-122"/>
                <a:cs typeface="Calibri" pitchFamily="34" charset="-120"/>
              </a:rPr>
              <a:t>Counts often exhibit excess zeros beyond what Poisson predicts</a:t>
            </a:r>
            <a:endParaRPr lang="en-US" sz="1300" dirty="0"/>
          </a:p>
          <a:p>
            <a:pPr marL="342900" indent="-342900">
              <a:spcAft>
                <a:spcPts val="500"/>
              </a:spcAft>
              <a:buSzPct val="100000"/>
              <a:buChar char="•"/>
            </a:pPr>
            <a:r>
              <a:rPr lang="en-US" sz="1300" dirty="0">
                <a:solidFill>
                  <a:srgbClr val="4A5568"/>
                </a:solidFill>
                <a:latin typeface="Calibri" pitchFamily="34" charset="0"/>
                <a:ea typeface="Calibri" pitchFamily="34" charset="-122"/>
                <a:cs typeface="Calibri" pitchFamily="34" charset="-120"/>
              </a:rPr>
              <a:t>Standard Gaussian mixture models (via mclust) assume normality — poorly suited for counts</a:t>
            </a:r>
            <a:endParaRPr lang="en-US" sz="1300" dirty="0"/>
          </a:p>
          <a:p>
            <a:pPr marL="342900" indent="-342900">
              <a:spcAft>
                <a:spcPts val="500"/>
              </a:spcAft>
              <a:buSzPct val="100000"/>
              <a:buChar char="•"/>
            </a:pPr>
            <a:r>
              <a:rPr lang="en-US" sz="1300" dirty="0">
                <a:solidFill>
                  <a:srgbClr val="4A5568"/>
                </a:solidFill>
                <a:latin typeface="Calibri" pitchFamily="34" charset="0"/>
                <a:ea typeface="Calibri" pitchFamily="34" charset="-122"/>
                <a:cs typeface="Calibri" pitchFamily="34" charset="-120"/>
              </a:rPr>
              <a:t>Anscombe transformation (2√(x + 3/8)) is a common workaround, but approximate</a:t>
            </a:r>
            <a:endParaRPr lang="en-US" sz="1300" dirty="0"/>
          </a:p>
          <a:p>
            <a:pPr marL="342900" indent="-342900">
              <a:spcAft>
                <a:spcPts val="500"/>
              </a:spcAft>
              <a:buSzPct val="100000"/>
              <a:buChar char="•"/>
            </a:pPr>
            <a:r>
              <a:rPr lang="en-US" sz="1300" dirty="0">
                <a:solidFill>
                  <a:srgbClr val="4A5568"/>
                </a:solidFill>
                <a:latin typeface="Calibri" pitchFamily="34" charset="0"/>
                <a:ea typeface="Calibri" pitchFamily="34" charset="-122"/>
                <a:cs typeface="Calibri" pitchFamily="34" charset="-120"/>
              </a:rPr>
              <a:t>Poisson mixture EM directly models count structure — but ignores excess zeros</a:t>
            </a:r>
            <a:endParaRPr lang="en-US" sz="1300" dirty="0"/>
          </a:p>
        </p:txBody>
      </p:sp>
      <p:sp>
        <p:nvSpPr>
          <p:cNvPr id="8" name="Shape 6">
            <a:extLst>
              <a:ext uri="{FF2B5EF4-FFF2-40B4-BE49-F238E27FC236}">
                <a16:creationId xmlns:a16="http://schemas.microsoft.com/office/drawing/2014/main" id="{4A702778-4E27-77B5-B4A6-BF09FBBBC46E}"/>
              </a:ext>
            </a:extLst>
          </p:cNvPr>
          <p:cNvSpPr/>
          <p:nvPr/>
        </p:nvSpPr>
        <p:spPr>
          <a:xfrm>
            <a:off x="4754880" y="914400"/>
            <a:ext cx="3977640" cy="361188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9" name="Shape 7">
            <a:extLst>
              <a:ext uri="{FF2B5EF4-FFF2-40B4-BE49-F238E27FC236}">
                <a16:creationId xmlns:a16="http://schemas.microsoft.com/office/drawing/2014/main" id="{ACD95F11-F0C0-1E32-7963-D99D794EE67B}"/>
              </a:ext>
            </a:extLst>
          </p:cNvPr>
          <p:cNvSpPr/>
          <p:nvPr/>
        </p:nvSpPr>
        <p:spPr>
          <a:xfrm>
            <a:off x="4754880" y="914400"/>
            <a:ext cx="54864" cy="3611880"/>
          </a:xfrm>
          <a:prstGeom prst="rect">
            <a:avLst/>
          </a:prstGeom>
          <a:solidFill>
            <a:srgbClr val="E8A838"/>
          </a:solidFill>
          <a:ln w="12700">
            <a:solidFill>
              <a:srgbClr val="E8A838"/>
            </a:solidFill>
            <a:prstDash val="solid"/>
          </a:ln>
        </p:spPr>
      </p:sp>
      <p:sp>
        <p:nvSpPr>
          <p:cNvPr id="10" name="Text 8">
            <a:extLst>
              <a:ext uri="{FF2B5EF4-FFF2-40B4-BE49-F238E27FC236}">
                <a16:creationId xmlns:a16="http://schemas.microsoft.com/office/drawing/2014/main" id="{F72E9300-6C60-0720-6096-3A4C3DF489D5}"/>
              </a:ext>
            </a:extLst>
          </p:cNvPr>
          <p:cNvSpPr/>
          <p:nvPr/>
        </p:nvSpPr>
        <p:spPr>
          <a:xfrm>
            <a:off x="4983480" y="1005840"/>
            <a:ext cx="3566160" cy="365760"/>
          </a:xfrm>
          <a:prstGeom prst="rect">
            <a:avLst/>
          </a:prstGeom>
          <a:noFill/>
          <a:ln/>
        </p:spPr>
        <p:txBody>
          <a:bodyPr wrap="square"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Research Question</a:t>
            </a:r>
            <a:endParaRPr lang="en-US" sz="1600" dirty="0"/>
          </a:p>
        </p:txBody>
      </p:sp>
      <p:sp>
        <p:nvSpPr>
          <p:cNvPr id="11" name="Text 9">
            <a:extLst>
              <a:ext uri="{FF2B5EF4-FFF2-40B4-BE49-F238E27FC236}">
                <a16:creationId xmlns:a16="http://schemas.microsoft.com/office/drawing/2014/main" id="{ED0076F7-BFCC-C434-1D0B-20E91C603549}"/>
              </a:ext>
            </a:extLst>
          </p:cNvPr>
          <p:cNvSpPr/>
          <p:nvPr/>
        </p:nvSpPr>
        <p:spPr>
          <a:xfrm>
            <a:off x="4983480" y="1463040"/>
            <a:ext cx="3566160" cy="1463040"/>
          </a:xfrm>
          <a:prstGeom prst="rect">
            <a:avLst/>
          </a:prstGeom>
          <a:noFill/>
          <a:ln/>
        </p:spPr>
        <p:txBody>
          <a:bodyPr wrap="square" rtlCol="0" anchor="ctr"/>
          <a:lstStyle/>
          <a:p>
            <a:pPr marL="0" indent="0">
              <a:buNone/>
            </a:pPr>
            <a:r>
              <a:rPr lang="en-US" sz="1400" i="1" dirty="0">
                <a:solidFill>
                  <a:srgbClr val="4A5568"/>
                </a:solidFill>
                <a:latin typeface="Calibri" pitchFamily="34" charset="0"/>
                <a:ea typeface="Calibri" pitchFamily="34" charset="-122"/>
                <a:cs typeface="Calibri" pitchFamily="34" charset="-120"/>
              </a:rPr>
              <a:t>Can a Zero-Inflated Poisson (ZIP) mixture model improve clustering performance compared to the Anscombe transformation + mclust approach?</a:t>
            </a:r>
            <a:endParaRPr lang="en-US" sz="1400" dirty="0"/>
          </a:p>
        </p:txBody>
      </p:sp>
      <p:sp>
        <p:nvSpPr>
          <p:cNvPr id="12" name="Shape 10">
            <a:extLst>
              <a:ext uri="{FF2B5EF4-FFF2-40B4-BE49-F238E27FC236}">
                <a16:creationId xmlns:a16="http://schemas.microsoft.com/office/drawing/2014/main" id="{95342216-B095-3E98-FA9A-A1698A42186C}"/>
              </a:ext>
            </a:extLst>
          </p:cNvPr>
          <p:cNvSpPr/>
          <p:nvPr/>
        </p:nvSpPr>
        <p:spPr>
          <a:xfrm>
            <a:off x="4983480" y="3063240"/>
            <a:ext cx="3474720" cy="45720"/>
          </a:xfrm>
          <a:prstGeom prst="rect">
            <a:avLst/>
          </a:prstGeom>
          <a:solidFill>
            <a:srgbClr val="D1D5DB"/>
          </a:solidFill>
          <a:ln w="12700">
            <a:solidFill>
              <a:srgbClr val="D1D5DB"/>
            </a:solidFill>
            <a:prstDash val="solid"/>
          </a:ln>
        </p:spPr>
      </p:sp>
      <p:sp>
        <p:nvSpPr>
          <p:cNvPr id="13" name="Text 11">
            <a:extLst>
              <a:ext uri="{FF2B5EF4-FFF2-40B4-BE49-F238E27FC236}">
                <a16:creationId xmlns:a16="http://schemas.microsoft.com/office/drawing/2014/main" id="{C0526317-031C-0B96-3F29-EBB86229639E}"/>
              </a:ext>
            </a:extLst>
          </p:cNvPr>
          <p:cNvSpPr/>
          <p:nvPr/>
        </p:nvSpPr>
        <p:spPr>
          <a:xfrm>
            <a:off x="4983480" y="3200400"/>
            <a:ext cx="3566160" cy="1097280"/>
          </a:xfrm>
          <a:prstGeom prst="rect">
            <a:avLst/>
          </a:prstGeom>
          <a:noFill/>
          <a:ln/>
        </p:spPr>
        <p:txBody>
          <a:bodyPr wrap="square" rtlCol="0" anchor="ctr"/>
          <a:lstStyle/>
          <a:p>
            <a:pPr marL="0" indent="0">
              <a:buNone/>
            </a:pPr>
            <a:r>
              <a:rPr lang="en-US" sz="1300" dirty="0">
                <a:solidFill>
                  <a:srgbClr val="4A5568"/>
                </a:solidFill>
                <a:latin typeface="Calibri" pitchFamily="34" charset="0"/>
                <a:ea typeface="Calibri" pitchFamily="34" charset="-122"/>
                <a:cs typeface="Calibri" pitchFamily="34" charset="-120"/>
              </a:rPr>
              <a:t>Evaluated via Adjusted Rand Index (ARI) across simulated ZIP mixture data</a:t>
            </a:r>
            <a:endParaRPr lang="en-US" sz="1300" dirty="0"/>
          </a:p>
        </p:txBody>
      </p:sp>
    </p:spTree>
    <p:extLst>
      <p:ext uri="{BB962C8B-B14F-4D97-AF65-F5344CB8AC3E}">
        <p14:creationId xmlns:p14="http://schemas.microsoft.com/office/powerpoint/2010/main" val="2520043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Statistical Models: Poisson and ZIP</a:t>
            </a:r>
            <a:endParaRPr lang="en-US" sz="2800" dirty="0"/>
          </a:p>
        </p:txBody>
      </p:sp>
      <p:sp>
        <p:nvSpPr>
          <p:cNvPr id="3" name="Shape 1"/>
          <p:cNvSpPr/>
          <p:nvPr/>
        </p:nvSpPr>
        <p:spPr>
          <a:xfrm>
            <a:off x="411480" y="786384"/>
            <a:ext cx="8321040" cy="32004"/>
          </a:xfrm>
          <a:prstGeom prst="rect">
            <a:avLst/>
          </a:prstGeom>
          <a:solidFill>
            <a:srgbClr val="0D7377"/>
          </a:solidFill>
          <a:ln w="12700">
            <a:solidFill>
              <a:srgbClr val="0D7377"/>
            </a:solidFill>
            <a:prstDash val="solid"/>
          </a:ln>
        </p:spPr>
      </p:sp>
      <p:sp>
        <p:nvSpPr>
          <p:cNvPr id="4" name="Shape 2"/>
          <p:cNvSpPr/>
          <p:nvPr/>
        </p:nvSpPr>
        <p:spPr>
          <a:xfrm>
            <a:off x="411480" y="914400"/>
            <a:ext cx="2743200" cy="393192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 name="Shape 3"/>
          <p:cNvSpPr/>
          <p:nvPr/>
        </p:nvSpPr>
        <p:spPr>
          <a:xfrm>
            <a:off x="411480" y="914400"/>
            <a:ext cx="54864" cy="3931920"/>
          </a:xfrm>
          <a:prstGeom prst="rect">
            <a:avLst/>
          </a:prstGeom>
          <a:solidFill>
            <a:srgbClr val="0D7377"/>
          </a:solidFill>
          <a:ln w="12700">
            <a:solidFill>
              <a:srgbClr val="0D7377"/>
            </a:solidFill>
            <a:prstDash val="solid"/>
          </a:ln>
        </p:spPr>
      </p:sp>
      <p:sp>
        <p:nvSpPr>
          <p:cNvPr id="6" name="Text 4"/>
          <p:cNvSpPr/>
          <p:nvPr/>
        </p:nvSpPr>
        <p:spPr>
          <a:xfrm>
            <a:off x="594360" y="960120"/>
            <a:ext cx="2423160" cy="38404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Poisson Distribution</a:t>
            </a:r>
            <a:endParaRPr lang="en-US" sz="1300" dirty="0"/>
          </a:p>
        </p:txBody>
      </p:sp>
      <p:sp>
        <p:nvSpPr>
          <p:cNvPr id="7" name="Shape 5"/>
          <p:cNvSpPr/>
          <p:nvPr/>
        </p:nvSpPr>
        <p:spPr>
          <a:xfrm>
            <a:off x="521208" y="1371600"/>
            <a:ext cx="2523744" cy="1188720"/>
          </a:xfrm>
          <a:prstGeom prst="rect">
            <a:avLst/>
          </a:prstGeom>
          <a:solidFill>
            <a:srgbClr val="EBF4FB"/>
          </a:solidFill>
          <a:ln w="12700">
            <a:solidFill>
              <a:srgbClr val="B8D8ED"/>
            </a:solidFill>
            <a:prstDash val="solid"/>
          </a:ln>
        </p:spPr>
      </p:sp>
      <p:sp>
        <p:nvSpPr>
          <p:cNvPr id="8" name="Text 6"/>
          <p:cNvSpPr/>
          <p:nvPr/>
        </p:nvSpPr>
        <p:spPr>
          <a:xfrm>
            <a:off x="576072" y="1417320"/>
            <a:ext cx="2423160" cy="1097280"/>
          </a:xfrm>
          <a:prstGeom prst="rect">
            <a:avLst/>
          </a:prstGeom>
          <a:noFill/>
          <a:ln/>
        </p:spPr>
        <p:txBody>
          <a:bodyPr wrap="square" rtlCol="0" anchor="ctr"/>
          <a:lstStyle/>
          <a:p>
            <a:pPr marL="0" indent="0" algn="ctr">
              <a:buNone/>
            </a:pPr>
            <a:r>
              <a:rPr lang="en-US" sz="1100" dirty="0">
                <a:solidFill>
                  <a:srgbClr val="1B2A4A"/>
                </a:solidFill>
                <a:latin typeface="Courier New" pitchFamily="34" charset="0"/>
                <a:ea typeface="Courier New" pitchFamily="34" charset="-122"/>
                <a:cs typeface="Courier New" pitchFamily="34" charset="-120"/>
              </a:rPr>
              <a:t>P(X = x) = e^{−λ} λˣ / x!</a:t>
            </a:r>
            <a:endParaRPr lang="en-US" sz="1100" dirty="0"/>
          </a:p>
        </p:txBody>
      </p:sp>
      <p:sp>
        <p:nvSpPr>
          <p:cNvPr id="9" name="Text 7"/>
          <p:cNvSpPr/>
          <p:nvPr/>
        </p:nvSpPr>
        <p:spPr>
          <a:xfrm>
            <a:off x="576072" y="2651760"/>
            <a:ext cx="2423160" cy="201168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λ = mean and variance</a:t>
            </a:r>
            <a:endParaRPr lang="en-US" sz="1200" dirty="0"/>
          </a:p>
          <a:p>
            <a:pPr marL="0" indent="0">
              <a:buNone/>
            </a:pPr>
            <a:r>
              <a:rPr lang="en-US" sz="1200" dirty="0">
                <a:solidFill>
                  <a:srgbClr val="4A5568"/>
                </a:solidFill>
                <a:latin typeface="Calibri" pitchFamily="34" charset="0"/>
                <a:ea typeface="Calibri" pitchFamily="34" charset="-122"/>
                <a:cs typeface="Calibri" pitchFamily="34" charset="-120"/>
              </a:rPr>
              <a:t>Models count data</a:t>
            </a:r>
            <a:endParaRPr lang="en-US" sz="1200" dirty="0"/>
          </a:p>
          <a:p>
            <a:pPr marL="0" indent="0">
              <a:buNone/>
            </a:pPr>
            <a:r>
              <a:rPr lang="en-US" sz="1200" dirty="0">
                <a:solidFill>
                  <a:srgbClr val="4A5568"/>
                </a:solidFill>
                <a:latin typeface="Calibri" pitchFamily="34" charset="0"/>
                <a:ea typeface="Calibri" pitchFamily="34" charset="-122"/>
                <a:cs typeface="Calibri" pitchFamily="34" charset="-120"/>
              </a:rPr>
              <a:t>Assumes no excess zeros</a:t>
            </a:r>
            <a:endParaRPr lang="en-US" sz="1200" dirty="0"/>
          </a:p>
        </p:txBody>
      </p:sp>
      <p:sp>
        <p:nvSpPr>
          <p:cNvPr id="10" name="Shape 8"/>
          <p:cNvSpPr/>
          <p:nvPr/>
        </p:nvSpPr>
        <p:spPr>
          <a:xfrm>
            <a:off x="3310128" y="914400"/>
            <a:ext cx="2743200" cy="393192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1" name="Shape 9"/>
          <p:cNvSpPr/>
          <p:nvPr/>
        </p:nvSpPr>
        <p:spPr>
          <a:xfrm>
            <a:off x="3310128" y="914400"/>
            <a:ext cx="54864" cy="3931920"/>
          </a:xfrm>
          <a:prstGeom prst="rect">
            <a:avLst/>
          </a:prstGeom>
          <a:solidFill>
            <a:srgbClr val="E8A838"/>
          </a:solidFill>
          <a:ln w="12700">
            <a:solidFill>
              <a:srgbClr val="E8A838"/>
            </a:solidFill>
            <a:prstDash val="solid"/>
          </a:ln>
        </p:spPr>
      </p:sp>
      <p:sp>
        <p:nvSpPr>
          <p:cNvPr id="12" name="Text 10"/>
          <p:cNvSpPr/>
          <p:nvPr/>
        </p:nvSpPr>
        <p:spPr>
          <a:xfrm>
            <a:off x="3493008" y="960120"/>
            <a:ext cx="2423160" cy="38404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Zero-Inflated Poisson (ZIP)</a:t>
            </a:r>
            <a:endParaRPr lang="en-US" sz="1300" dirty="0"/>
          </a:p>
        </p:txBody>
      </p:sp>
      <p:sp>
        <p:nvSpPr>
          <p:cNvPr id="13" name="Shape 11"/>
          <p:cNvSpPr/>
          <p:nvPr/>
        </p:nvSpPr>
        <p:spPr>
          <a:xfrm>
            <a:off x="3419856" y="1371600"/>
            <a:ext cx="2523744" cy="1188720"/>
          </a:xfrm>
          <a:prstGeom prst="rect">
            <a:avLst/>
          </a:prstGeom>
          <a:solidFill>
            <a:srgbClr val="EBF4FB"/>
          </a:solidFill>
          <a:ln w="12700">
            <a:solidFill>
              <a:srgbClr val="B8D8ED"/>
            </a:solidFill>
            <a:prstDash val="solid"/>
          </a:ln>
        </p:spPr>
      </p:sp>
      <p:sp>
        <p:nvSpPr>
          <p:cNvPr id="14" name="Text 12"/>
          <p:cNvSpPr/>
          <p:nvPr/>
        </p:nvSpPr>
        <p:spPr>
          <a:xfrm>
            <a:off x="3474720" y="1417320"/>
            <a:ext cx="2423160" cy="1097280"/>
          </a:xfrm>
          <a:prstGeom prst="rect">
            <a:avLst/>
          </a:prstGeom>
          <a:noFill/>
          <a:ln/>
        </p:spPr>
        <p:txBody>
          <a:bodyPr wrap="square" rtlCol="0" anchor="ctr"/>
          <a:lstStyle/>
          <a:p>
            <a:pPr marL="0" indent="0" algn="ctr">
              <a:buNone/>
            </a:pPr>
            <a:r>
              <a:rPr lang="en-US" sz="1100" dirty="0">
                <a:solidFill>
                  <a:srgbClr val="1B2A4A"/>
                </a:solidFill>
                <a:latin typeface="Courier New" pitchFamily="34" charset="0"/>
                <a:ea typeface="Courier New" pitchFamily="34" charset="-122"/>
                <a:cs typeface="Courier New" pitchFamily="34" charset="-120"/>
              </a:rPr>
              <a:t>P(X = 0)  = ω + (1−ω)e^{−λ}</a:t>
            </a:r>
            <a:endParaRPr lang="en-US" sz="1100" dirty="0"/>
          </a:p>
          <a:p>
            <a:pPr marL="0" indent="0" algn="ctr">
              <a:buNone/>
            </a:pPr>
            <a:r>
              <a:rPr lang="en-US" sz="1100" dirty="0">
                <a:solidFill>
                  <a:srgbClr val="1B2A4A"/>
                </a:solidFill>
                <a:latin typeface="Courier New" pitchFamily="34" charset="0"/>
                <a:ea typeface="Courier New" pitchFamily="34" charset="-122"/>
                <a:cs typeface="Courier New" pitchFamily="34" charset="-120"/>
              </a:rPr>
              <a:t>P(X = x) = (1−ω) e^{−λ}λˣ/x!  (x &gt; 0)</a:t>
            </a:r>
            <a:endParaRPr lang="en-US" sz="1100" dirty="0"/>
          </a:p>
        </p:txBody>
      </p:sp>
      <p:sp>
        <p:nvSpPr>
          <p:cNvPr id="15" name="Text 13"/>
          <p:cNvSpPr/>
          <p:nvPr/>
        </p:nvSpPr>
        <p:spPr>
          <a:xfrm>
            <a:off x="3474720" y="2651760"/>
            <a:ext cx="2423160" cy="201168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ω = zero-inflation prob.</a:t>
            </a:r>
            <a:endParaRPr lang="en-US" sz="1200" dirty="0"/>
          </a:p>
          <a:p>
            <a:pPr marL="0" indent="0">
              <a:buNone/>
            </a:pPr>
            <a:r>
              <a:rPr lang="en-US" sz="1200" dirty="0">
                <a:solidFill>
                  <a:srgbClr val="4A5568"/>
                </a:solidFill>
                <a:latin typeface="Calibri" pitchFamily="34" charset="0"/>
                <a:ea typeface="Calibri" pitchFamily="34" charset="-122"/>
                <a:cs typeface="Calibri" pitchFamily="34" charset="-120"/>
              </a:rPr>
              <a:t>Two-component structure:</a:t>
            </a:r>
            <a:endParaRPr lang="en-US" sz="1200" dirty="0"/>
          </a:p>
          <a:p>
            <a:pPr marL="0" indent="0">
              <a:buNone/>
            </a:pPr>
            <a:r>
              <a:rPr lang="en-US" sz="1200" dirty="0">
                <a:solidFill>
                  <a:srgbClr val="4A5568"/>
                </a:solidFill>
                <a:latin typeface="Calibri" pitchFamily="34" charset="0"/>
                <a:ea typeface="Calibri" pitchFamily="34" charset="-122"/>
                <a:cs typeface="Calibri" pitchFamily="34" charset="-120"/>
              </a:rPr>
              <a:t>  · Structural zeros (prob. ω)</a:t>
            </a:r>
            <a:endParaRPr lang="en-US" sz="1200" dirty="0"/>
          </a:p>
          <a:p>
            <a:pPr marL="0" indent="0">
              <a:buNone/>
            </a:pPr>
            <a:r>
              <a:rPr lang="en-US" sz="1200" dirty="0">
                <a:solidFill>
                  <a:srgbClr val="4A5568"/>
                </a:solidFill>
                <a:latin typeface="Calibri" pitchFamily="34" charset="0"/>
                <a:ea typeface="Calibri" pitchFamily="34" charset="-122"/>
                <a:cs typeface="Calibri" pitchFamily="34" charset="-120"/>
              </a:rPr>
              <a:t>  · Poisson counts (prob. 1−ω)</a:t>
            </a:r>
            <a:endParaRPr lang="en-US" sz="1200" dirty="0"/>
          </a:p>
        </p:txBody>
      </p:sp>
      <p:sp>
        <p:nvSpPr>
          <p:cNvPr id="16" name="Shape 14"/>
          <p:cNvSpPr/>
          <p:nvPr/>
        </p:nvSpPr>
        <p:spPr>
          <a:xfrm>
            <a:off x="6208776" y="914400"/>
            <a:ext cx="2743200" cy="393192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7" name="Shape 15"/>
          <p:cNvSpPr/>
          <p:nvPr/>
        </p:nvSpPr>
        <p:spPr>
          <a:xfrm>
            <a:off x="6208776" y="914400"/>
            <a:ext cx="54864" cy="3931920"/>
          </a:xfrm>
          <a:prstGeom prst="rect">
            <a:avLst/>
          </a:prstGeom>
          <a:solidFill>
            <a:srgbClr val="1B2A4A"/>
          </a:solidFill>
          <a:ln w="12700">
            <a:solidFill>
              <a:srgbClr val="1B2A4A"/>
            </a:solidFill>
            <a:prstDash val="solid"/>
          </a:ln>
        </p:spPr>
      </p:sp>
      <p:sp>
        <p:nvSpPr>
          <p:cNvPr id="18" name="Text 16"/>
          <p:cNvSpPr/>
          <p:nvPr/>
        </p:nvSpPr>
        <p:spPr>
          <a:xfrm>
            <a:off x="6391656" y="960120"/>
            <a:ext cx="2423160" cy="38404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Mixture Model</a:t>
            </a:r>
            <a:endParaRPr lang="en-US" sz="1300" dirty="0"/>
          </a:p>
        </p:txBody>
      </p:sp>
      <p:sp>
        <p:nvSpPr>
          <p:cNvPr id="19" name="Shape 17"/>
          <p:cNvSpPr/>
          <p:nvPr/>
        </p:nvSpPr>
        <p:spPr>
          <a:xfrm>
            <a:off x="6318504" y="1371600"/>
            <a:ext cx="2523744" cy="1188720"/>
          </a:xfrm>
          <a:prstGeom prst="rect">
            <a:avLst/>
          </a:prstGeom>
          <a:solidFill>
            <a:srgbClr val="EBF4FB"/>
          </a:solidFill>
          <a:ln w="12700">
            <a:solidFill>
              <a:srgbClr val="B8D8ED"/>
            </a:solidFill>
            <a:prstDash val="solid"/>
          </a:ln>
        </p:spPr>
      </p:sp>
      <p:sp>
        <p:nvSpPr>
          <p:cNvPr id="20" name="Text 18"/>
          <p:cNvSpPr/>
          <p:nvPr/>
        </p:nvSpPr>
        <p:spPr>
          <a:xfrm>
            <a:off x="6373368" y="1417320"/>
            <a:ext cx="2423160" cy="1097280"/>
          </a:xfrm>
          <a:prstGeom prst="rect">
            <a:avLst/>
          </a:prstGeom>
          <a:noFill/>
          <a:ln/>
        </p:spPr>
        <p:txBody>
          <a:bodyPr wrap="square" rtlCol="0" anchor="ctr"/>
          <a:lstStyle/>
          <a:p>
            <a:pPr marL="0" indent="0" algn="ctr">
              <a:buNone/>
            </a:pPr>
            <a:r>
              <a:rPr lang="en-US" sz="1100" dirty="0">
                <a:solidFill>
                  <a:srgbClr val="1B2A4A"/>
                </a:solidFill>
                <a:latin typeface="Courier New" pitchFamily="34" charset="0"/>
                <a:ea typeface="Courier New" pitchFamily="34" charset="-122"/>
                <a:cs typeface="Courier New" pitchFamily="34" charset="-120"/>
              </a:rPr>
              <a:t>f(xᵢ) = Σₘ πₘ ∏ⱼ f_ZIP(xᵢⱼ; λₘⱼ, ωₘⱼ)</a:t>
            </a:r>
            <a:endParaRPr lang="en-US" sz="1100" dirty="0"/>
          </a:p>
        </p:txBody>
      </p:sp>
      <p:sp>
        <p:nvSpPr>
          <p:cNvPr id="21" name="Text 19"/>
          <p:cNvSpPr/>
          <p:nvPr/>
        </p:nvSpPr>
        <p:spPr>
          <a:xfrm>
            <a:off x="6373368" y="2651760"/>
            <a:ext cx="2423160" cy="201168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G components, mixing</a:t>
            </a:r>
            <a:endParaRPr lang="en-US" sz="1200" dirty="0"/>
          </a:p>
          <a:p>
            <a:pPr marL="0" indent="0">
              <a:buNone/>
            </a:pPr>
            <a:r>
              <a:rPr lang="en-US" sz="1200" dirty="0">
                <a:solidFill>
                  <a:srgbClr val="4A5568"/>
                </a:solidFill>
                <a:latin typeface="Calibri" pitchFamily="34" charset="0"/>
                <a:ea typeface="Calibri" pitchFamily="34" charset="-122"/>
                <a:cs typeface="Calibri" pitchFamily="34" charset="-120"/>
              </a:rPr>
              <a:t>weights π₁,…,πG</a:t>
            </a:r>
            <a:endParaRPr lang="en-US" sz="1200" dirty="0"/>
          </a:p>
          <a:p>
            <a:pPr marL="0" indent="0">
              <a:buNone/>
            </a:pPr>
            <a:r>
              <a:rPr lang="en-US" sz="1200" dirty="0">
                <a:solidFill>
                  <a:srgbClr val="4A5568"/>
                </a:solidFill>
                <a:latin typeface="Calibri" pitchFamily="34" charset="0"/>
                <a:ea typeface="Calibri" pitchFamily="34" charset="-122"/>
                <a:cs typeface="Calibri" pitchFamily="34" charset="-120"/>
              </a:rPr>
              <a:t>Independent features</a:t>
            </a:r>
            <a:endParaRPr lang="en-US" sz="1200" dirty="0"/>
          </a:p>
          <a:p>
            <a:pPr marL="0" indent="0">
              <a:buNone/>
            </a:pPr>
            <a:r>
              <a:rPr lang="en-US" sz="1200" dirty="0">
                <a:solidFill>
                  <a:srgbClr val="4A5568"/>
                </a:solidFill>
                <a:latin typeface="Calibri" pitchFamily="34" charset="0"/>
                <a:ea typeface="Calibri" pitchFamily="34" charset="-122"/>
                <a:cs typeface="Calibri" pitchFamily="34" charset="-120"/>
              </a:rPr>
              <a:t>(product construction)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The Anscombe Transformation</a:t>
            </a:r>
            <a:endParaRPr lang="en-US" sz="2800" dirty="0"/>
          </a:p>
        </p:txBody>
      </p:sp>
      <p:sp>
        <p:nvSpPr>
          <p:cNvPr id="3" name="Shape 1"/>
          <p:cNvSpPr/>
          <p:nvPr/>
        </p:nvSpPr>
        <p:spPr>
          <a:xfrm>
            <a:off x="411480" y="786384"/>
            <a:ext cx="8321040" cy="32004"/>
          </a:xfrm>
          <a:prstGeom prst="rect">
            <a:avLst/>
          </a:prstGeom>
          <a:solidFill>
            <a:srgbClr val="0D7377"/>
          </a:solidFill>
          <a:ln w="12700">
            <a:solidFill>
              <a:srgbClr val="0D7377"/>
            </a:solidFill>
            <a:prstDash val="solid"/>
          </a:ln>
        </p:spPr>
      </p:sp>
      <p:sp>
        <p:nvSpPr>
          <p:cNvPr id="4" name="Shape 2"/>
          <p:cNvSpPr/>
          <p:nvPr/>
        </p:nvSpPr>
        <p:spPr>
          <a:xfrm>
            <a:off x="411480" y="914400"/>
            <a:ext cx="4114800" cy="365760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 name="Shape 3"/>
          <p:cNvSpPr/>
          <p:nvPr/>
        </p:nvSpPr>
        <p:spPr>
          <a:xfrm>
            <a:off x="411480" y="914400"/>
            <a:ext cx="54864" cy="3657600"/>
          </a:xfrm>
          <a:prstGeom prst="rect">
            <a:avLst/>
          </a:prstGeom>
          <a:solidFill>
            <a:srgbClr val="0D7377"/>
          </a:solidFill>
          <a:ln w="12700">
            <a:solidFill>
              <a:srgbClr val="0D7377"/>
            </a:solidFill>
            <a:prstDash val="solid"/>
          </a:ln>
        </p:spPr>
      </p:sp>
      <p:sp>
        <p:nvSpPr>
          <p:cNvPr id="6" name="Text 4"/>
          <p:cNvSpPr/>
          <p:nvPr/>
        </p:nvSpPr>
        <p:spPr>
          <a:xfrm>
            <a:off x="640080" y="1005840"/>
            <a:ext cx="370332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Variance-Stabilising Transform</a:t>
            </a:r>
            <a:endParaRPr lang="en-US" sz="1500" dirty="0"/>
          </a:p>
        </p:txBody>
      </p:sp>
      <p:sp>
        <p:nvSpPr>
          <p:cNvPr id="7" name="Shape 5"/>
          <p:cNvSpPr/>
          <p:nvPr/>
        </p:nvSpPr>
        <p:spPr>
          <a:xfrm>
            <a:off x="640080" y="1435608"/>
            <a:ext cx="3657600" cy="658368"/>
          </a:xfrm>
          <a:prstGeom prst="rect">
            <a:avLst/>
          </a:prstGeom>
          <a:solidFill>
            <a:srgbClr val="EBF4FB"/>
          </a:solidFill>
          <a:ln w="12700">
            <a:solidFill>
              <a:srgbClr val="B8D8ED"/>
            </a:solidFill>
            <a:prstDash val="solid"/>
          </a:ln>
        </p:spPr>
      </p:sp>
      <p:sp>
        <p:nvSpPr>
          <p:cNvPr id="8" name="Text 6"/>
          <p:cNvSpPr/>
          <p:nvPr/>
        </p:nvSpPr>
        <p:spPr>
          <a:xfrm>
            <a:off x="640080" y="1435608"/>
            <a:ext cx="3657600" cy="658368"/>
          </a:xfrm>
          <a:prstGeom prst="rect">
            <a:avLst/>
          </a:prstGeom>
          <a:noFill/>
          <a:ln/>
        </p:spPr>
        <p:txBody>
          <a:bodyPr wrap="square" rtlCol="0" anchor="ctr"/>
          <a:lstStyle/>
          <a:p>
            <a:pPr marL="0" indent="0" algn="ctr">
              <a:buNone/>
            </a:pPr>
            <a:r>
              <a:rPr lang="en-US" sz="2000" b="1" dirty="0">
                <a:solidFill>
                  <a:srgbClr val="1B2A4A"/>
                </a:solidFill>
                <a:latin typeface="Courier New" pitchFamily="34" charset="0"/>
                <a:ea typeface="Courier New" pitchFamily="34" charset="-122"/>
                <a:cs typeface="Courier New" pitchFamily="34" charset="-120"/>
              </a:rPr>
              <a:t>Y = 2√(X + 3/8)</a:t>
            </a:r>
            <a:endParaRPr lang="en-US" sz="2000" dirty="0"/>
          </a:p>
        </p:txBody>
      </p:sp>
      <p:sp>
        <p:nvSpPr>
          <p:cNvPr id="9" name="Text 7"/>
          <p:cNvSpPr/>
          <p:nvPr/>
        </p:nvSpPr>
        <p:spPr>
          <a:xfrm>
            <a:off x="685800" y="2194560"/>
            <a:ext cx="3657600" cy="2194560"/>
          </a:xfrm>
          <a:prstGeom prst="rect">
            <a:avLst/>
          </a:prstGeom>
          <a:noFill/>
          <a:ln/>
        </p:spPr>
        <p:txBody>
          <a:bodyPr wrap="square" rtlCol="0" anchor="ctr"/>
          <a:lstStyle/>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Transforms Poisson counts so that variance ≈ 1 regardless of λ</a:t>
            </a:r>
            <a:endParaRPr lang="en-US" sz="1300" dirty="0"/>
          </a:p>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Allows Gaussian mixture model (mclust) to be applied to count data</a:t>
            </a:r>
            <a:endParaRPr lang="en-US" sz="1300" dirty="0"/>
          </a:p>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Computationally fast — transformation + off-the-shelf Gaussian EM</a:t>
            </a:r>
            <a:endParaRPr lang="en-US" sz="1300" dirty="0"/>
          </a:p>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Approximate: normality assumption still violated with excess zeros</a:t>
            </a:r>
            <a:endParaRPr lang="en-US" sz="1300" dirty="0"/>
          </a:p>
          <a:p>
            <a:pPr marL="342900" indent="-342900">
              <a:spcAft>
                <a:spcPts val="400"/>
              </a:spcAft>
              <a:buSzPct val="100000"/>
              <a:buChar char="•"/>
            </a:pPr>
            <a:r>
              <a:rPr lang="en-US" sz="1300" b="1" dirty="0">
                <a:solidFill>
                  <a:srgbClr val="C53030"/>
                </a:solidFill>
                <a:latin typeface="Calibri" pitchFamily="34" charset="0"/>
                <a:ea typeface="Calibri" pitchFamily="34" charset="-122"/>
                <a:cs typeface="Calibri" pitchFamily="34" charset="-120"/>
              </a:rPr>
              <a:t>Does not model zero-inflation — critical limitation</a:t>
            </a:r>
            <a:endParaRPr lang="en-US" sz="1300" dirty="0"/>
          </a:p>
        </p:txBody>
      </p:sp>
      <p:sp>
        <p:nvSpPr>
          <p:cNvPr id="10" name="Shape 8"/>
          <p:cNvSpPr/>
          <p:nvPr/>
        </p:nvSpPr>
        <p:spPr>
          <a:xfrm>
            <a:off x="4754880" y="914400"/>
            <a:ext cx="3977640" cy="365760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1" name="Shape 9"/>
          <p:cNvSpPr/>
          <p:nvPr/>
        </p:nvSpPr>
        <p:spPr>
          <a:xfrm>
            <a:off x="4754880" y="914400"/>
            <a:ext cx="54864" cy="3657600"/>
          </a:xfrm>
          <a:prstGeom prst="rect">
            <a:avLst/>
          </a:prstGeom>
          <a:solidFill>
            <a:srgbClr val="E8A838"/>
          </a:solidFill>
          <a:ln w="12700">
            <a:solidFill>
              <a:srgbClr val="E8A838"/>
            </a:solidFill>
            <a:prstDash val="solid"/>
          </a:ln>
        </p:spPr>
      </p:sp>
      <p:sp>
        <p:nvSpPr>
          <p:cNvPr id="12" name="Text 10"/>
          <p:cNvSpPr/>
          <p:nvPr/>
        </p:nvSpPr>
        <p:spPr>
          <a:xfrm>
            <a:off x="4983480" y="1005840"/>
            <a:ext cx="356616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Approach Comparison</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983480" y="1463040"/>
          <a:ext cx="3566160" cy="2727960"/>
        </p:xfrm>
        <a:graphic>
          <a:graphicData uri="http://schemas.openxmlformats.org/drawingml/2006/table">
            <a:tbl>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8404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Property</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Anscombe + mclust</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ZIP EM</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Models count structure</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Approx.</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 Exact</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Handles excess zeros</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Parameter interpretability</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Computational cost</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Very low</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Requires distributional assumption</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Normal (approx)</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ZIP</a:t>
                      </a:r>
                      <a:endParaRPr lang="en-US" sz="11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EM Algorithm for Poisson Mixture Models</a:t>
            </a:r>
            <a:endParaRPr lang="en-US" sz="2800" dirty="0"/>
          </a:p>
        </p:txBody>
      </p:sp>
      <p:sp>
        <p:nvSpPr>
          <p:cNvPr id="3" name="Shape 1"/>
          <p:cNvSpPr/>
          <p:nvPr/>
        </p:nvSpPr>
        <p:spPr>
          <a:xfrm>
            <a:off x="411480" y="786384"/>
            <a:ext cx="8321040" cy="32004"/>
          </a:xfrm>
          <a:prstGeom prst="rect">
            <a:avLst/>
          </a:prstGeom>
          <a:solidFill>
            <a:srgbClr val="0D7377"/>
          </a:solidFill>
          <a:ln w="12700">
            <a:solidFill>
              <a:srgbClr val="0D7377"/>
            </a:solidFill>
            <a:prstDash val="solid"/>
          </a:ln>
        </p:spPr>
      </p:sp>
      <p:sp>
        <p:nvSpPr>
          <p:cNvPr id="4" name="Shape 2"/>
          <p:cNvSpPr/>
          <p:nvPr/>
        </p:nvSpPr>
        <p:spPr>
          <a:xfrm>
            <a:off x="320040" y="960120"/>
            <a:ext cx="1874520" cy="320040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 name="Shape 3"/>
          <p:cNvSpPr/>
          <p:nvPr/>
        </p:nvSpPr>
        <p:spPr>
          <a:xfrm>
            <a:off x="320040" y="960120"/>
            <a:ext cx="1874520" cy="502920"/>
          </a:xfrm>
          <a:prstGeom prst="rect">
            <a:avLst/>
          </a:prstGeom>
          <a:solidFill>
            <a:srgbClr val="0D7377"/>
          </a:solidFill>
          <a:ln w="12700">
            <a:solidFill>
              <a:srgbClr val="0D7377"/>
            </a:solidFill>
            <a:prstDash val="solid"/>
          </a:ln>
        </p:spPr>
      </p:sp>
      <p:sp>
        <p:nvSpPr>
          <p:cNvPr id="6" name="Text 4"/>
          <p:cNvSpPr/>
          <p:nvPr/>
        </p:nvSpPr>
        <p:spPr>
          <a:xfrm>
            <a:off x="429768" y="996696"/>
            <a:ext cx="457200" cy="4297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886968" y="1051560"/>
            <a:ext cx="1216152"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Initialise</a:t>
            </a:r>
            <a:endParaRPr lang="en-US" sz="1400" dirty="0"/>
          </a:p>
        </p:txBody>
      </p:sp>
      <p:sp>
        <p:nvSpPr>
          <p:cNvPr id="8" name="Text 6"/>
          <p:cNvSpPr/>
          <p:nvPr/>
        </p:nvSpPr>
        <p:spPr>
          <a:xfrm>
            <a:off x="429768" y="1554480"/>
            <a:ext cx="1673352" cy="2514600"/>
          </a:xfrm>
          <a:prstGeom prst="rect">
            <a:avLst/>
          </a:prstGeom>
          <a:noFill/>
          <a:ln/>
        </p:spPr>
        <p:txBody>
          <a:bodyPr wrap="square" rtlCol="0" anchor="t"/>
          <a:lstStyle/>
          <a:p>
            <a:pPr marL="0" indent="0" algn="l">
              <a:buNone/>
            </a:pPr>
            <a:r>
              <a:rPr lang="en-US" sz="1200" dirty="0">
                <a:solidFill>
                  <a:srgbClr val="4A5568"/>
                </a:solidFill>
                <a:latin typeface="Calibri" pitchFamily="34" charset="0"/>
                <a:ea typeface="Calibri" pitchFamily="34" charset="-122"/>
                <a:cs typeface="Calibri" pitchFamily="34" charset="-120"/>
              </a:rPr>
              <a:t>Random soft assignments Zᵢₘ, mixing weights πₘ, rate estimates λₘⱼ</a:t>
            </a:r>
            <a:endParaRPr lang="en-US" sz="1200" dirty="0"/>
          </a:p>
        </p:txBody>
      </p:sp>
      <p:sp>
        <p:nvSpPr>
          <p:cNvPr id="9" name="Shape 7"/>
          <p:cNvSpPr/>
          <p:nvPr/>
        </p:nvSpPr>
        <p:spPr>
          <a:xfrm>
            <a:off x="2203704" y="2542032"/>
            <a:ext cx="164592" cy="0"/>
          </a:xfrm>
          <a:prstGeom prst="line">
            <a:avLst/>
          </a:prstGeom>
          <a:noFill/>
          <a:ln w="19050">
            <a:solidFill>
              <a:srgbClr val="718096"/>
            </a:solidFill>
            <a:prstDash val="solid"/>
          </a:ln>
        </p:spPr>
      </p:sp>
      <p:sp>
        <p:nvSpPr>
          <p:cNvPr id="10" name="Shape 8"/>
          <p:cNvSpPr/>
          <p:nvPr/>
        </p:nvSpPr>
        <p:spPr>
          <a:xfrm>
            <a:off x="2359152" y="960120"/>
            <a:ext cx="1874520" cy="320040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1" name="Shape 9"/>
          <p:cNvSpPr/>
          <p:nvPr/>
        </p:nvSpPr>
        <p:spPr>
          <a:xfrm>
            <a:off x="2359152" y="960120"/>
            <a:ext cx="1874520" cy="502920"/>
          </a:xfrm>
          <a:prstGeom prst="rect">
            <a:avLst/>
          </a:prstGeom>
          <a:solidFill>
            <a:srgbClr val="14919B"/>
          </a:solidFill>
          <a:ln w="12700">
            <a:solidFill>
              <a:srgbClr val="14919B"/>
            </a:solidFill>
            <a:prstDash val="solid"/>
          </a:ln>
        </p:spPr>
      </p:sp>
      <p:sp>
        <p:nvSpPr>
          <p:cNvPr id="12" name="Text 10"/>
          <p:cNvSpPr/>
          <p:nvPr/>
        </p:nvSpPr>
        <p:spPr>
          <a:xfrm>
            <a:off x="2468880" y="996696"/>
            <a:ext cx="457200" cy="4297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a:t>
            </a:r>
            <a:endParaRPr lang="en-US" sz="2200" dirty="0"/>
          </a:p>
        </p:txBody>
      </p:sp>
      <p:sp>
        <p:nvSpPr>
          <p:cNvPr id="13" name="Text 11"/>
          <p:cNvSpPr/>
          <p:nvPr/>
        </p:nvSpPr>
        <p:spPr>
          <a:xfrm>
            <a:off x="2926080" y="1051560"/>
            <a:ext cx="1216152"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E-Step</a:t>
            </a:r>
            <a:endParaRPr lang="en-US" sz="1400" dirty="0"/>
          </a:p>
        </p:txBody>
      </p:sp>
      <p:sp>
        <p:nvSpPr>
          <p:cNvPr id="14" name="Text 12"/>
          <p:cNvSpPr/>
          <p:nvPr/>
        </p:nvSpPr>
        <p:spPr>
          <a:xfrm>
            <a:off x="2468880" y="1554480"/>
            <a:ext cx="1673352" cy="2514600"/>
          </a:xfrm>
          <a:prstGeom prst="rect">
            <a:avLst/>
          </a:prstGeom>
          <a:noFill/>
          <a:ln/>
        </p:spPr>
        <p:txBody>
          <a:bodyPr wrap="square" rtlCol="0" anchor="t"/>
          <a:lstStyle/>
          <a:p>
            <a:pPr marL="0" indent="0" algn="l">
              <a:buNone/>
            </a:pPr>
            <a:r>
              <a:rPr lang="en-US" sz="1200" dirty="0">
                <a:solidFill>
                  <a:srgbClr val="4A5568"/>
                </a:solidFill>
                <a:latin typeface="Calibri" pitchFamily="34" charset="0"/>
                <a:ea typeface="Calibri" pitchFamily="34" charset="-122"/>
                <a:cs typeface="Calibri" pitchFamily="34" charset="-120"/>
              </a:rPr>
              <a:t>Update posterior responsibilities:</a:t>
            </a:r>
            <a:endParaRPr lang="en-US" sz="1200" dirty="0"/>
          </a:p>
          <a:p>
            <a:pPr marL="0" indent="0" algn="l">
              <a:buNone/>
            </a:pPr>
            <a:r>
              <a:rPr lang="en-US" sz="1200" dirty="0">
                <a:solidFill>
                  <a:srgbClr val="4A5568"/>
                </a:solidFill>
                <a:latin typeface="Calibri" pitchFamily="34" charset="0"/>
                <a:ea typeface="Calibri" pitchFamily="34" charset="-122"/>
                <a:cs typeface="Calibri" pitchFamily="34" charset="-120"/>
              </a:rPr>
              <a:t>  zᵢₘ ∝ πₘ ∏ⱼ Pois(xᵢⱼ; λₘⱼ)</a:t>
            </a:r>
            <a:endParaRPr lang="en-US" sz="1200" dirty="0"/>
          </a:p>
          <a:p>
            <a:pPr marL="0" indent="0" algn="l">
              <a:buNone/>
            </a:pPr>
            <a:r>
              <a:rPr lang="en-US" sz="1200" dirty="0">
                <a:solidFill>
                  <a:srgbClr val="4A5568"/>
                </a:solidFill>
                <a:latin typeface="Calibri" pitchFamily="34" charset="0"/>
                <a:ea typeface="Calibri" pitchFamily="34" charset="-122"/>
                <a:cs typeface="Calibri" pitchFamily="34" charset="-120"/>
              </a:rPr>
              <a:t>  (log-sum-exp for numerical stability)</a:t>
            </a:r>
            <a:endParaRPr lang="en-US" sz="1200" dirty="0"/>
          </a:p>
        </p:txBody>
      </p:sp>
      <p:sp>
        <p:nvSpPr>
          <p:cNvPr id="15" name="Shape 13"/>
          <p:cNvSpPr/>
          <p:nvPr/>
        </p:nvSpPr>
        <p:spPr>
          <a:xfrm>
            <a:off x="4242816" y="2542032"/>
            <a:ext cx="164592" cy="0"/>
          </a:xfrm>
          <a:prstGeom prst="line">
            <a:avLst/>
          </a:prstGeom>
          <a:noFill/>
          <a:ln w="19050">
            <a:solidFill>
              <a:srgbClr val="718096"/>
            </a:solidFill>
            <a:prstDash val="solid"/>
          </a:ln>
        </p:spPr>
      </p:sp>
      <p:sp>
        <p:nvSpPr>
          <p:cNvPr id="16" name="Shape 14"/>
          <p:cNvSpPr/>
          <p:nvPr/>
        </p:nvSpPr>
        <p:spPr>
          <a:xfrm>
            <a:off x="4398264" y="960120"/>
            <a:ext cx="1874520" cy="320040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7" name="Shape 15"/>
          <p:cNvSpPr/>
          <p:nvPr/>
        </p:nvSpPr>
        <p:spPr>
          <a:xfrm>
            <a:off x="4398264" y="960120"/>
            <a:ext cx="1874520" cy="502920"/>
          </a:xfrm>
          <a:prstGeom prst="rect">
            <a:avLst/>
          </a:prstGeom>
          <a:solidFill>
            <a:srgbClr val="1B2A4A"/>
          </a:solidFill>
          <a:ln w="12700">
            <a:solidFill>
              <a:srgbClr val="1B2A4A"/>
            </a:solidFill>
            <a:prstDash val="solid"/>
          </a:ln>
        </p:spPr>
      </p:sp>
      <p:sp>
        <p:nvSpPr>
          <p:cNvPr id="18" name="Text 16"/>
          <p:cNvSpPr/>
          <p:nvPr/>
        </p:nvSpPr>
        <p:spPr>
          <a:xfrm>
            <a:off x="4507992" y="996696"/>
            <a:ext cx="457200" cy="4297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a:t>
            </a:r>
            <a:endParaRPr lang="en-US" sz="2200" dirty="0"/>
          </a:p>
        </p:txBody>
      </p:sp>
      <p:sp>
        <p:nvSpPr>
          <p:cNvPr id="19" name="Text 17"/>
          <p:cNvSpPr/>
          <p:nvPr/>
        </p:nvSpPr>
        <p:spPr>
          <a:xfrm>
            <a:off x="4965192" y="1051560"/>
            <a:ext cx="1216152"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M-Step</a:t>
            </a:r>
            <a:endParaRPr lang="en-US" sz="1400" dirty="0"/>
          </a:p>
        </p:txBody>
      </p:sp>
      <p:sp>
        <p:nvSpPr>
          <p:cNvPr id="20" name="Text 18"/>
          <p:cNvSpPr/>
          <p:nvPr/>
        </p:nvSpPr>
        <p:spPr>
          <a:xfrm>
            <a:off x="4507992" y="1554480"/>
            <a:ext cx="1673352" cy="2514600"/>
          </a:xfrm>
          <a:prstGeom prst="rect">
            <a:avLst/>
          </a:prstGeom>
          <a:noFill/>
          <a:ln/>
        </p:spPr>
        <p:txBody>
          <a:bodyPr wrap="square" rtlCol="0" anchor="t"/>
          <a:lstStyle/>
          <a:p>
            <a:pPr marL="0" indent="0" algn="l">
              <a:buNone/>
            </a:pPr>
            <a:r>
              <a:rPr lang="en-US" sz="1200" dirty="0">
                <a:solidFill>
                  <a:srgbClr val="4A5568"/>
                </a:solidFill>
                <a:latin typeface="Calibri" pitchFamily="34" charset="0"/>
                <a:ea typeface="Calibri" pitchFamily="34" charset="-122"/>
                <a:cs typeface="Calibri" pitchFamily="34" charset="-120"/>
              </a:rPr>
              <a:t>Update parameters via weighted MLE:</a:t>
            </a:r>
            <a:endParaRPr lang="en-US" sz="1200" dirty="0"/>
          </a:p>
          <a:p>
            <a:pPr marL="0" indent="0" algn="l">
              <a:buNone/>
            </a:pPr>
            <a:r>
              <a:rPr lang="en-US" sz="1200" dirty="0">
                <a:solidFill>
                  <a:srgbClr val="4A5568"/>
                </a:solidFill>
                <a:latin typeface="Calibri" pitchFamily="34" charset="0"/>
                <a:ea typeface="Calibri" pitchFamily="34" charset="-122"/>
                <a:cs typeface="Calibri" pitchFamily="34" charset="-120"/>
              </a:rPr>
              <a:t>  πₘ = (1/n) Σᵢ zᵢₘ</a:t>
            </a:r>
            <a:endParaRPr lang="en-US" sz="1200" dirty="0"/>
          </a:p>
          <a:p>
            <a:pPr marL="0" indent="0" algn="l">
              <a:buNone/>
            </a:pPr>
            <a:r>
              <a:rPr lang="en-US" sz="1200" dirty="0">
                <a:solidFill>
                  <a:srgbClr val="4A5568"/>
                </a:solidFill>
                <a:latin typeface="Calibri" pitchFamily="34" charset="0"/>
                <a:ea typeface="Calibri" pitchFamily="34" charset="-122"/>
                <a:cs typeface="Calibri" pitchFamily="34" charset="-120"/>
              </a:rPr>
              <a:t>  λₘⱼ = Σᵢ zᵢₘ xᵢⱼ  /  Σᵢ zᵢₘ</a:t>
            </a:r>
            <a:endParaRPr lang="en-US" sz="1200" dirty="0"/>
          </a:p>
        </p:txBody>
      </p:sp>
      <p:sp>
        <p:nvSpPr>
          <p:cNvPr id="21" name="Shape 19"/>
          <p:cNvSpPr/>
          <p:nvPr/>
        </p:nvSpPr>
        <p:spPr>
          <a:xfrm>
            <a:off x="6281928" y="2542032"/>
            <a:ext cx="164592" cy="0"/>
          </a:xfrm>
          <a:prstGeom prst="line">
            <a:avLst/>
          </a:prstGeom>
          <a:noFill/>
          <a:ln w="19050">
            <a:solidFill>
              <a:srgbClr val="718096"/>
            </a:solidFill>
            <a:prstDash val="solid"/>
          </a:ln>
        </p:spPr>
      </p:sp>
      <p:sp>
        <p:nvSpPr>
          <p:cNvPr id="22" name="Shape 20"/>
          <p:cNvSpPr/>
          <p:nvPr/>
        </p:nvSpPr>
        <p:spPr>
          <a:xfrm>
            <a:off x="6437376" y="960120"/>
            <a:ext cx="1874520" cy="320040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23" name="Shape 21"/>
          <p:cNvSpPr/>
          <p:nvPr/>
        </p:nvSpPr>
        <p:spPr>
          <a:xfrm>
            <a:off x="6437376" y="960120"/>
            <a:ext cx="1874520" cy="502920"/>
          </a:xfrm>
          <a:prstGeom prst="rect">
            <a:avLst/>
          </a:prstGeom>
          <a:solidFill>
            <a:srgbClr val="E8A838"/>
          </a:solidFill>
          <a:ln w="12700">
            <a:solidFill>
              <a:srgbClr val="E8A838"/>
            </a:solidFill>
            <a:prstDash val="solid"/>
          </a:ln>
        </p:spPr>
      </p:sp>
      <p:sp>
        <p:nvSpPr>
          <p:cNvPr id="24" name="Text 22"/>
          <p:cNvSpPr/>
          <p:nvPr/>
        </p:nvSpPr>
        <p:spPr>
          <a:xfrm>
            <a:off x="6547104" y="996696"/>
            <a:ext cx="457200" cy="4297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5" name="Text 23"/>
          <p:cNvSpPr/>
          <p:nvPr/>
        </p:nvSpPr>
        <p:spPr>
          <a:xfrm>
            <a:off x="7004304" y="1051560"/>
            <a:ext cx="1216152"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Convergence</a:t>
            </a:r>
            <a:endParaRPr lang="en-US" sz="1400" dirty="0"/>
          </a:p>
        </p:txBody>
      </p:sp>
      <p:sp>
        <p:nvSpPr>
          <p:cNvPr id="26" name="Text 24"/>
          <p:cNvSpPr/>
          <p:nvPr/>
        </p:nvSpPr>
        <p:spPr>
          <a:xfrm>
            <a:off x="6547104" y="1554480"/>
            <a:ext cx="1673352" cy="2514600"/>
          </a:xfrm>
          <a:prstGeom prst="rect">
            <a:avLst/>
          </a:prstGeom>
          <a:noFill/>
          <a:ln/>
        </p:spPr>
        <p:txBody>
          <a:bodyPr wrap="square" rtlCol="0" anchor="t"/>
          <a:lstStyle/>
          <a:p>
            <a:pPr marL="0" indent="0" algn="l">
              <a:buNone/>
            </a:pPr>
            <a:r>
              <a:rPr lang="en-US" sz="1200" dirty="0">
                <a:solidFill>
                  <a:srgbClr val="4A5568"/>
                </a:solidFill>
                <a:latin typeface="Calibri" pitchFamily="34" charset="0"/>
                <a:ea typeface="Calibri" pitchFamily="34" charset="-122"/>
                <a:cs typeface="Calibri" pitchFamily="34" charset="-120"/>
              </a:rPr>
              <a:t>Repeat E and M steps until</a:t>
            </a:r>
            <a:endParaRPr lang="en-US" sz="1200" dirty="0"/>
          </a:p>
          <a:p>
            <a:pPr marL="0" indent="0" algn="l">
              <a:buNone/>
            </a:pPr>
            <a:r>
              <a:rPr lang="en-US" sz="1200" dirty="0">
                <a:solidFill>
                  <a:srgbClr val="4A5568"/>
                </a:solidFill>
                <a:latin typeface="Calibri" pitchFamily="34" charset="0"/>
                <a:ea typeface="Calibri" pitchFamily="34" charset="-122"/>
                <a:cs typeface="Calibri" pitchFamily="34" charset="-120"/>
              </a:rPr>
              <a:t>  |log L(t) − log L(t−1)| &lt; 10⁻⁶</a:t>
            </a:r>
            <a:endParaRPr lang="en-US" sz="1200" dirty="0"/>
          </a:p>
          <a:p>
            <a:pPr marL="0" indent="0" algn="l">
              <a:buNone/>
            </a:pPr>
            <a:r>
              <a:rPr lang="en-US" sz="1200" dirty="0">
                <a:solidFill>
                  <a:srgbClr val="4A5568"/>
                </a:solidFill>
                <a:latin typeface="Calibri" pitchFamily="34" charset="0"/>
                <a:ea typeface="Calibri" pitchFamily="34" charset="-122"/>
                <a:cs typeface="Calibri" pitchFamily="34" charset="-120"/>
              </a:rPr>
              <a:t>  or maximum iterations reached</a:t>
            </a:r>
            <a:endParaRPr lang="en-US" sz="1200" dirty="0"/>
          </a:p>
        </p:txBody>
      </p:sp>
      <p:sp>
        <p:nvSpPr>
          <p:cNvPr id="27" name="Text 25"/>
          <p:cNvSpPr/>
          <p:nvPr/>
        </p:nvSpPr>
        <p:spPr>
          <a:xfrm>
            <a:off x="320040" y="4315968"/>
            <a:ext cx="8503920" cy="320040"/>
          </a:xfrm>
          <a:prstGeom prst="rect">
            <a:avLst/>
          </a:prstGeom>
          <a:noFill/>
          <a:ln/>
        </p:spPr>
        <p:txBody>
          <a:bodyPr wrap="square" rtlCol="0" anchor="ctr"/>
          <a:lstStyle/>
          <a:p>
            <a:pPr marL="0" indent="0" algn="ctr">
              <a:buNone/>
            </a:pPr>
            <a:r>
              <a:rPr lang="en-US" sz="1200" i="1" dirty="0">
                <a:solidFill>
                  <a:srgbClr val="718096"/>
                </a:solidFill>
                <a:latin typeface="Calibri" pitchFamily="34" charset="0"/>
                <a:ea typeface="Calibri" pitchFamily="34" charset="-122"/>
                <a:cs typeface="Calibri" pitchFamily="34" charset="-120"/>
              </a:rPr>
              <a:t>Converged in 21 iterations on simulated dataset (n=300, G=2, p=5)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ZIP Mixture EM: Key Extensions</a:t>
            </a:r>
            <a:endParaRPr lang="en-US" sz="2800" dirty="0"/>
          </a:p>
        </p:txBody>
      </p:sp>
      <p:sp>
        <p:nvSpPr>
          <p:cNvPr id="3" name="Shape 1"/>
          <p:cNvSpPr/>
          <p:nvPr/>
        </p:nvSpPr>
        <p:spPr>
          <a:xfrm>
            <a:off x="411480" y="786384"/>
            <a:ext cx="8321040" cy="32004"/>
          </a:xfrm>
          <a:prstGeom prst="rect">
            <a:avLst/>
          </a:prstGeom>
          <a:solidFill>
            <a:srgbClr val="0D7377"/>
          </a:solidFill>
          <a:ln w="12700">
            <a:solidFill>
              <a:srgbClr val="0D7377"/>
            </a:solidFill>
            <a:prstDash val="solid"/>
          </a:ln>
        </p:spPr>
      </p:sp>
      <p:sp>
        <p:nvSpPr>
          <p:cNvPr id="4" name="Shape 2"/>
          <p:cNvSpPr/>
          <p:nvPr/>
        </p:nvSpPr>
        <p:spPr>
          <a:xfrm>
            <a:off x="411480" y="914400"/>
            <a:ext cx="4114800" cy="374904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 name="Shape 3"/>
          <p:cNvSpPr/>
          <p:nvPr/>
        </p:nvSpPr>
        <p:spPr>
          <a:xfrm>
            <a:off x="411480" y="914400"/>
            <a:ext cx="54864" cy="3749040"/>
          </a:xfrm>
          <a:prstGeom prst="rect">
            <a:avLst/>
          </a:prstGeom>
          <a:solidFill>
            <a:srgbClr val="0D7377"/>
          </a:solidFill>
          <a:ln w="12700">
            <a:solidFill>
              <a:srgbClr val="0D7377"/>
            </a:solidFill>
            <a:prstDash val="solid"/>
          </a:ln>
        </p:spPr>
      </p:sp>
      <p:sp>
        <p:nvSpPr>
          <p:cNvPr id="6" name="Text 4"/>
          <p:cNvSpPr/>
          <p:nvPr/>
        </p:nvSpPr>
        <p:spPr>
          <a:xfrm>
            <a:off x="640080" y="987552"/>
            <a:ext cx="3703320" cy="384048"/>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Extensions over Poisson EM</a:t>
            </a:r>
            <a:endParaRPr lang="en-US" sz="1500" dirty="0"/>
          </a:p>
        </p:txBody>
      </p:sp>
      <p:sp>
        <p:nvSpPr>
          <p:cNvPr id="7" name="Text 5"/>
          <p:cNvSpPr/>
          <p:nvPr/>
        </p:nvSpPr>
        <p:spPr>
          <a:xfrm>
            <a:off x="685800" y="1463040"/>
            <a:ext cx="3657600" cy="1737360"/>
          </a:xfrm>
          <a:prstGeom prst="rect">
            <a:avLst/>
          </a:prstGeom>
          <a:noFill/>
          <a:ln/>
        </p:spPr>
        <p:txBody>
          <a:bodyPr wrap="square" rtlCol="0" anchor="ctr"/>
          <a:lstStyle/>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1. ZIP likelihood replaces Poisson likelihood in E-step</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2. Additional latent variable Ûᵢⱼₘ introduced</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3. M-step updates λ and ω using Ûᵢⱼₘ</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4. Initialise ω = 0.2 (configurable)</a:t>
            </a:r>
            <a:endParaRPr lang="en-US" sz="1300" dirty="0"/>
          </a:p>
        </p:txBody>
      </p:sp>
      <p:sp>
        <p:nvSpPr>
          <p:cNvPr id="8" name="Shape 6"/>
          <p:cNvSpPr/>
          <p:nvPr/>
        </p:nvSpPr>
        <p:spPr>
          <a:xfrm>
            <a:off x="640080" y="3291840"/>
            <a:ext cx="3703320" cy="1143000"/>
          </a:xfrm>
          <a:prstGeom prst="rect">
            <a:avLst/>
          </a:prstGeom>
          <a:solidFill>
            <a:srgbClr val="EBF4FB"/>
          </a:solidFill>
          <a:ln w="12700">
            <a:solidFill>
              <a:srgbClr val="B8D8ED"/>
            </a:solidFill>
            <a:prstDash val="solid"/>
          </a:ln>
        </p:spPr>
      </p:sp>
      <p:sp>
        <p:nvSpPr>
          <p:cNvPr id="9" name="Text 7"/>
          <p:cNvSpPr/>
          <p:nvPr/>
        </p:nvSpPr>
        <p:spPr>
          <a:xfrm>
            <a:off x="749808" y="3337560"/>
            <a:ext cx="3520440" cy="274320"/>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Key Formula: û probability for zero observations</a:t>
            </a:r>
            <a:endParaRPr lang="en-US" sz="1100" dirty="0"/>
          </a:p>
        </p:txBody>
      </p:sp>
      <p:sp>
        <p:nvSpPr>
          <p:cNvPr id="10" name="Text 8"/>
          <p:cNvSpPr/>
          <p:nvPr/>
        </p:nvSpPr>
        <p:spPr>
          <a:xfrm>
            <a:off x="749808" y="3657600"/>
            <a:ext cx="3520440" cy="502920"/>
          </a:xfrm>
          <a:prstGeom prst="rect">
            <a:avLst/>
          </a:prstGeom>
          <a:noFill/>
          <a:ln/>
        </p:spPr>
        <p:txBody>
          <a:bodyPr wrap="square" rtlCol="0" anchor="ctr"/>
          <a:lstStyle/>
          <a:p>
            <a:pPr marL="0" indent="0" algn="ctr">
              <a:buNone/>
            </a:pPr>
            <a:r>
              <a:rPr lang="en-US" sz="1500" b="1" dirty="0">
                <a:solidFill>
                  <a:srgbClr val="0D7377"/>
                </a:solidFill>
                <a:latin typeface="Courier New" pitchFamily="34" charset="0"/>
                <a:ea typeface="Courier New" pitchFamily="34" charset="-122"/>
                <a:cs typeface="Courier New" pitchFamily="34" charset="-120"/>
              </a:rPr>
              <a:t>û = ω / [ ω + (1−ω) exp(−λ) ]</a:t>
            </a:r>
            <a:endParaRPr lang="en-US" sz="1500" dirty="0"/>
          </a:p>
        </p:txBody>
      </p:sp>
      <p:sp>
        <p:nvSpPr>
          <p:cNvPr id="11" name="Shape 9"/>
          <p:cNvSpPr/>
          <p:nvPr/>
        </p:nvSpPr>
        <p:spPr>
          <a:xfrm>
            <a:off x="4754880" y="914400"/>
            <a:ext cx="3977640" cy="374904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2" name="Shape 10"/>
          <p:cNvSpPr/>
          <p:nvPr/>
        </p:nvSpPr>
        <p:spPr>
          <a:xfrm>
            <a:off x="4754880" y="914400"/>
            <a:ext cx="54864" cy="3749040"/>
          </a:xfrm>
          <a:prstGeom prst="rect">
            <a:avLst/>
          </a:prstGeom>
          <a:solidFill>
            <a:srgbClr val="1B2A4A"/>
          </a:solidFill>
          <a:ln w="12700">
            <a:solidFill>
              <a:srgbClr val="1B2A4A"/>
            </a:solidFill>
            <a:prstDash val="solid"/>
          </a:ln>
        </p:spPr>
      </p:sp>
      <p:sp>
        <p:nvSpPr>
          <p:cNvPr id="13" name="Text 11"/>
          <p:cNvSpPr/>
          <p:nvPr/>
        </p:nvSpPr>
        <p:spPr>
          <a:xfrm>
            <a:off x="4983480" y="987552"/>
            <a:ext cx="3566160" cy="384048"/>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Updated M-Step Equations</a:t>
            </a:r>
            <a:endParaRPr lang="en-US" sz="1500" dirty="0"/>
          </a:p>
        </p:txBody>
      </p:sp>
      <p:sp>
        <p:nvSpPr>
          <p:cNvPr id="14" name="Text 12"/>
          <p:cNvSpPr/>
          <p:nvPr/>
        </p:nvSpPr>
        <p:spPr>
          <a:xfrm>
            <a:off x="4983480" y="1463040"/>
            <a:ext cx="3566160" cy="292608"/>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Mixing weights</a:t>
            </a:r>
            <a:endParaRPr lang="en-US" sz="1200" dirty="0"/>
          </a:p>
        </p:txBody>
      </p:sp>
      <p:sp>
        <p:nvSpPr>
          <p:cNvPr id="15" name="Shape 13"/>
          <p:cNvSpPr/>
          <p:nvPr/>
        </p:nvSpPr>
        <p:spPr>
          <a:xfrm>
            <a:off x="4983480" y="1764792"/>
            <a:ext cx="3566160" cy="658368"/>
          </a:xfrm>
          <a:prstGeom prst="rect">
            <a:avLst/>
          </a:prstGeom>
          <a:solidFill>
            <a:srgbClr val="EBF4FB"/>
          </a:solidFill>
          <a:ln w="12700">
            <a:solidFill>
              <a:srgbClr val="B8D8ED"/>
            </a:solidFill>
            <a:prstDash val="solid"/>
          </a:ln>
        </p:spPr>
      </p:sp>
      <p:sp>
        <p:nvSpPr>
          <p:cNvPr id="16" name="Text 14"/>
          <p:cNvSpPr/>
          <p:nvPr/>
        </p:nvSpPr>
        <p:spPr>
          <a:xfrm>
            <a:off x="5029200" y="1783080"/>
            <a:ext cx="3474720" cy="621792"/>
          </a:xfrm>
          <a:prstGeom prst="rect">
            <a:avLst/>
          </a:prstGeom>
          <a:noFill/>
          <a:ln/>
        </p:spPr>
        <p:txBody>
          <a:bodyPr wrap="square" rtlCol="0" anchor="ctr"/>
          <a:lstStyle/>
          <a:p>
            <a:pPr marL="0" indent="0" algn="ctr">
              <a:buNone/>
            </a:pPr>
            <a:r>
              <a:rPr lang="en-US" sz="1100" dirty="0">
                <a:solidFill>
                  <a:srgbClr val="0D7377"/>
                </a:solidFill>
                <a:latin typeface="Courier New" pitchFamily="34" charset="0"/>
                <a:ea typeface="Courier New" pitchFamily="34" charset="-122"/>
                <a:cs typeface="Courier New" pitchFamily="34" charset="-120"/>
              </a:rPr>
              <a:t>π̂ₘ = (1/n) Σᵢ zᵢₘ</a:t>
            </a:r>
            <a:endParaRPr lang="en-US" sz="1100" dirty="0"/>
          </a:p>
        </p:txBody>
      </p:sp>
      <p:sp>
        <p:nvSpPr>
          <p:cNvPr id="17" name="Text 15"/>
          <p:cNvSpPr/>
          <p:nvPr/>
        </p:nvSpPr>
        <p:spPr>
          <a:xfrm>
            <a:off x="4983480" y="2542032"/>
            <a:ext cx="3566160" cy="292608"/>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Rate (λ) — uses û to exclude structural zeros</a:t>
            </a:r>
            <a:endParaRPr lang="en-US" sz="1200" dirty="0"/>
          </a:p>
        </p:txBody>
      </p:sp>
      <p:sp>
        <p:nvSpPr>
          <p:cNvPr id="18" name="Shape 16"/>
          <p:cNvSpPr/>
          <p:nvPr/>
        </p:nvSpPr>
        <p:spPr>
          <a:xfrm>
            <a:off x="4983480" y="2843784"/>
            <a:ext cx="3566160" cy="658368"/>
          </a:xfrm>
          <a:prstGeom prst="rect">
            <a:avLst/>
          </a:prstGeom>
          <a:solidFill>
            <a:srgbClr val="EBF4FB"/>
          </a:solidFill>
          <a:ln w="12700">
            <a:solidFill>
              <a:srgbClr val="B8D8ED"/>
            </a:solidFill>
            <a:prstDash val="solid"/>
          </a:ln>
        </p:spPr>
      </p:sp>
      <p:sp>
        <p:nvSpPr>
          <p:cNvPr id="19" name="Text 17"/>
          <p:cNvSpPr/>
          <p:nvPr/>
        </p:nvSpPr>
        <p:spPr>
          <a:xfrm>
            <a:off x="5029200" y="2862072"/>
            <a:ext cx="3474720" cy="621792"/>
          </a:xfrm>
          <a:prstGeom prst="rect">
            <a:avLst/>
          </a:prstGeom>
          <a:noFill/>
          <a:ln/>
        </p:spPr>
        <p:txBody>
          <a:bodyPr wrap="square" rtlCol="0" anchor="ctr"/>
          <a:lstStyle/>
          <a:p>
            <a:pPr marL="0" indent="0" algn="ctr">
              <a:buNone/>
            </a:pPr>
            <a:r>
              <a:rPr lang="en-US" sz="1100" dirty="0">
                <a:solidFill>
                  <a:srgbClr val="0D7377"/>
                </a:solidFill>
                <a:latin typeface="Courier New" pitchFamily="34" charset="0"/>
                <a:ea typeface="Courier New" pitchFamily="34" charset="-122"/>
                <a:cs typeface="Courier New" pitchFamily="34" charset="-120"/>
              </a:rPr>
              <a:t>λ̂ₘⱼ = Σᵢ zᵢₘ(1−ûᵢⱼₘ)xᵢⱼ</a:t>
            </a:r>
            <a:endParaRPr lang="en-US" sz="1100" dirty="0"/>
          </a:p>
          <a:p>
            <a:pPr marL="0" indent="0" algn="ctr">
              <a:buNone/>
            </a:pPr>
            <a:r>
              <a:rPr lang="en-US" sz="1100" dirty="0">
                <a:solidFill>
                  <a:srgbClr val="0D7377"/>
                </a:solidFill>
                <a:latin typeface="Courier New" pitchFamily="34" charset="0"/>
                <a:ea typeface="Courier New" pitchFamily="34" charset="-122"/>
                <a:cs typeface="Courier New" pitchFamily="34" charset="-120"/>
              </a:rPr>
              <a:t>         ─────────────────────</a:t>
            </a:r>
            <a:endParaRPr lang="en-US" sz="1100" dirty="0"/>
          </a:p>
          <a:p>
            <a:pPr marL="0" indent="0" algn="ctr">
              <a:buNone/>
            </a:pPr>
            <a:r>
              <a:rPr lang="en-US" sz="1100" dirty="0">
                <a:solidFill>
                  <a:srgbClr val="0D7377"/>
                </a:solidFill>
                <a:latin typeface="Courier New" pitchFamily="34" charset="0"/>
                <a:ea typeface="Courier New" pitchFamily="34" charset="-122"/>
                <a:cs typeface="Courier New" pitchFamily="34" charset="-120"/>
              </a:rPr>
              <a:t>         Σᵢ zᵢₘ(1−ûᵢⱼₘ)</a:t>
            </a:r>
            <a:endParaRPr lang="en-US" sz="1100" dirty="0"/>
          </a:p>
        </p:txBody>
      </p:sp>
      <p:sp>
        <p:nvSpPr>
          <p:cNvPr id="20" name="Text 18"/>
          <p:cNvSpPr/>
          <p:nvPr/>
        </p:nvSpPr>
        <p:spPr>
          <a:xfrm>
            <a:off x="4983480" y="3621024"/>
            <a:ext cx="3566160" cy="292608"/>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Zero-inflation (ω)</a:t>
            </a:r>
            <a:endParaRPr lang="en-US" sz="1200" dirty="0"/>
          </a:p>
        </p:txBody>
      </p:sp>
      <p:sp>
        <p:nvSpPr>
          <p:cNvPr id="21" name="Shape 19"/>
          <p:cNvSpPr/>
          <p:nvPr/>
        </p:nvSpPr>
        <p:spPr>
          <a:xfrm>
            <a:off x="4983480" y="3922776"/>
            <a:ext cx="3566160" cy="658368"/>
          </a:xfrm>
          <a:prstGeom prst="rect">
            <a:avLst/>
          </a:prstGeom>
          <a:solidFill>
            <a:srgbClr val="EBF4FB"/>
          </a:solidFill>
          <a:ln w="12700">
            <a:solidFill>
              <a:srgbClr val="B8D8ED"/>
            </a:solidFill>
            <a:prstDash val="solid"/>
          </a:ln>
        </p:spPr>
      </p:sp>
      <p:sp>
        <p:nvSpPr>
          <p:cNvPr id="22" name="Text 20"/>
          <p:cNvSpPr/>
          <p:nvPr/>
        </p:nvSpPr>
        <p:spPr>
          <a:xfrm>
            <a:off x="5029200" y="3941064"/>
            <a:ext cx="3474720" cy="621792"/>
          </a:xfrm>
          <a:prstGeom prst="rect">
            <a:avLst/>
          </a:prstGeom>
          <a:noFill/>
          <a:ln/>
        </p:spPr>
        <p:txBody>
          <a:bodyPr wrap="square" rtlCol="0" anchor="ctr"/>
          <a:lstStyle/>
          <a:p>
            <a:pPr marL="0" indent="0" algn="ctr">
              <a:buNone/>
            </a:pPr>
            <a:r>
              <a:rPr lang="en-US" sz="1100" dirty="0">
                <a:solidFill>
                  <a:srgbClr val="0D7377"/>
                </a:solidFill>
                <a:latin typeface="Courier New" pitchFamily="34" charset="0"/>
                <a:ea typeface="Courier New" pitchFamily="34" charset="-122"/>
                <a:cs typeface="Courier New" pitchFamily="34" charset="-120"/>
              </a:rPr>
              <a:t>ω̂ₘⱼ = Σᵢ zᵢₘ ûᵢⱼₘ / Σᵢ zᵢₘ</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Simulation Study: Design</a:t>
            </a:r>
            <a:endParaRPr lang="en-US" sz="2800" dirty="0"/>
          </a:p>
        </p:txBody>
      </p:sp>
      <p:sp>
        <p:nvSpPr>
          <p:cNvPr id="3" name="Shape 1"/>
          <p:cNvSpPr/>
          <p:nvPr/>
        </p:nvSpPr>
        <p:spPr>
          <a:xfrm>
            <a:off x="411480" y="786384"/>
            <a:ext cx="8321040" cy="32004"/>
          </a:xfrm>
          <a:prstGeom prst="rect">
            <a:avLst/>
          </a:prstGeom>
          <a:solidFill>
            <a:srgbClr val="0D7377"/>
          </a:solidFill>
          <a:ln w="12700">
            <a:solidFill>
              <a:srgbClr val="0D7377"/>
            </a:solidFill>
            <a:prstDash val="solid"/>
          </a:ln>
        </p:spPr>
      </p:sp>
      <p:sp>
        <p:nvSpPr>
          <p:cNvPr id="4" name="Shape 2"/>
          <p:cNvSpPr/>
          <p:nvPr/>
        </p:nvSpPr>
        <p:spPr>
          <a:xfrm>
            <a:off x="411480" y="914400"/>
            <a:ext cx="2651760" cy="137160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 name="Shape 3"/>
          <p:cNvSpPr/>
          <p:nvPr/>
        </p:nvSpPr>
        <p:spPr>
          <a:xfrm>
            <a:off x="411480" y="914400"/>
            <a:ext cx="54864" cy="1371600"/>
          </a:xfrm>
          <a:prstGeom prst="rect">
            <a:avLst/>
          </a:prstGeom>
          <a:solidFill>
            <a:srgbClr val="0D7377"/>
          </a:solidFill>
          <a:ln w="12700">
            <a:solidFill>
              <a:srgbClr val="0D7377"/>
            </a:solidFill>
            <a:prstDash val="solid"/>
          </a:ln>
        </p:spPr>
      </p:sp>
      <p:sp>
        <p:nvSpPr>
          <p:cNvPr id="6" name="Text 4"/>
          <p:cNvSpPr/>
          <p:nvPr/>
        </p:nvSpPr>
        <p:spPr>
          <a:xfrm>
            <a:off x="594360" y="960120"/>
            <a:ext cx="2331720" cy="34747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Sample size n</a:t>
            </a:r>
            <a:endParaRPr lang="en-US" sz="1300" dirty="0"/>
          </a:p>
        </p:txBody>
      </p:sp>
      <p:sp>
        <p:nvSpPr>
          <p:cNvPr id="7" name="Text 5"/>
          <p:cNvSpPr/>
          <p:nvPr/>
        </p:nvSpPr>
        <p:spPr>
          <a:xfrm>
            <a:off x="594360" y="1353312"/>
            <a:ext cx="2331720" cy="658368"/>
          </a:xfrm>
          <a:prstGeom prst="rect">
            <a:avLst/>
          </a:prstGeom>
          <a:noFill/>
          <a:ln/>
        </p:spPr>
        <p:txBody>
          <a:bodyPr wrap="square" rtlCol="0" anchor="ctr"/>
          <a:lstStyle/>
          <a:p>
            <a:pPr marL="0" indent="0" algn="ctr">
              <a:buNone/>
            </a:pPr>
            <a:r>
              <a:rPr lang="en-US" sz="2200" b="1" dirty="0">
                <a:solidFill>
                  <a:srgbClr val="0D7377"/>
                </a:solidFill>
                <a:latin typeface="Calibri" pitchFamily="34" charset="0"/>
                <a:ea typeface="Calibri" pitchFamily="34" charset="-122"/>
                <a:cs typeface="Calibri" pitchFamily="34" charset="-120"/>
              </a:rPr>
              <a:t>100 or 300</a:t>
            </a:r>
            <a:endParaRPr lang="en-US" sz="2200" dirty="0"/>
          </a:p>
        </p:txBody>
      </p:sp>
      <p:sp>
        <p:nvSpPr>
          <p:cNvPr id="8" name="Shape 6"/>
          <p:cNvSpPr/>
          <p:nvPr/>
        </p:nvSpPr>
        <p:spPr>
          <a:xfrm>
            <a:off x="3355848" y="914400"/>
            <a:ext cx="2651760" cy="137160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9" name="Shape 7"/>
          <p:cNvSpPr/>
          <p:nvPr/>
        </p:nvSpPr>
        <p:spPr>
          <a:xfrm>
            <a:off x="3355848" y="914400"/>
            <a:ext cx="54864" cy="1371600"/>
          </a:xfrm>
          <a:prstGeom prst="rect">
            <a:avLst/>
          </a:prstGeom>
          <a:solidFill>
            <a:srgbClr val="1B2A4A"/>
          </a:solidFill>
          <a:ln w="12700">
            <a:solidFill>
              <a:srgbClr val="1B2A4A"/>
            </a:solidFill>
            <a:prstDash val="solid"/>
          </a:ln>
        </p:spPr>
      </p:sp>
      <p:sp>
        <p:nvSpPr>
          <p:cNvPr id="10" name="Text 8"/>
          <p:cNvSpPr/>
          <p:nvPr/>
        </p:nvSpPr>
        <p:spPr>
          <a:xfrm>
            <a:off x="3538728" y="960120"/>
            <a:ext cx="2331720" cy="34747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Components G</a:t>
            </a:r>
            <a:endParaRPr lang="en-US" sz="1300" dirty="0"/>
          </a:p>
        </p:txBody>
      </p:sp>
      <p:sp>
        <p:nvSpPr>
          <p:cNvPr id="11" name="Text 9"/>
          <p:cNvSpPr/>
          <p:nvPr/>
        </p:nvSpPr>
        <p:spPr>
          <a:xfrm>
            <a:off x="3538728" y="1353312"/>
            <a:ext cx="2331720" cy="658368"/>
          </a:xfrm>
          <a:prstGeom prst="rect">
            <a:avLst/>
          </a:prstGeom>
          <a:noFill/>
          <a:ln/>
        </p:spPr>
        <p:txBody>
          <a:bodyPr wrap="square" rtlCol="0" anchor="ctr"/>
          <a:lstStyle/>
          <a:p>
            <a:pPr marL="0" indent="0" algn="ctr">
              <a:buNone/>
            </a:pPr>
            <a:r>
              <a:rPr lang="en-US" sz="2200" b="1" dirty="0">
                <a:solidFill>
                  <a:srgbClr val="1B2A4A"/>
                </a:solidFill>
                <a:latin typeface="Calibri" pitchFamily="34" charset="0"/>
                <a:ea typeface="Calibri" pitchFamily="34" charset="-122"/>
                <a:cs typeface="Calibri" pitchFamily="34" charset="-120"/>
              </a:rPr>
              <a:t>2 or 3</a:t>
            </a:r>
            <a:endParaRPr lang="en-US" sz="2200" dirty="0"/>
          </a:p>
        </p:txBody>
      </p:sp>
      <p:sp>
        <p:nvSpPr>
          <p:cNvPr id="12" name="Shape 10"/>
          <p:cNvSpPr/>
          <p:nvPr/>
        </p:nvSpPr>
        <p:spPr>
          <a:xfrm>
            <a:off x="6300216" y="914400"/>
            <a:ext cx="2651760" cy="137160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3" name="Shape 11"/>
          <p:cNvSpPr/>
          <p:nvPr/>
        </p:nvSpPr>
        <p:spPr>
          <a:xfrm>
            <a:off x="6300216" y="914400"/>
            <a:ext cx="54864" cy="1371600"/>
          </a:xfrm>
          <a:prstGeom prst="rect">
            <a:avLst/>
          </a:prstGeom>
          <a:solidFill>
            <a:srgbClr val="E8A838"/>
          </a:solidFill>
          <a:ln w="12700">
            <a:solidFill>
              <a:srgbClr val="E8A838"/>
            </a:solidFill>
            <a:prstDash val="solid"/>
          </a:ln>
        </p:spPr>
      </p:sp>
      <p:sp>
        <p:nvSpPr>
          <p:cNvPr id="14" name="Text 12"/>
          <p:cNvSpPr/>
          <p:nvPr/>
        </p:nvSpPr>
        <p:spPr>
          <a:xfrm>
            <a:off x="6483096" y="960120"/>
            <a:ext cx="2331720" cy="34747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Features p</a:t>
            </a:r>
            <a:endParaRPr lang="en-US" sz="1300" dirty="0"/>
          </a:p>
        </p:txBody>
      </p:sp>
      <p:sp>
        <p:nvSpPr>
          <p:cNvPr id="15" name="Text 13"/>
          <p:cNvSpPr/>
          <p:nvPr/>
        </p:nvSpPr>
        <p:spPr>
          <a:xfrm>
            <a:off x="6483096" y="1353312"/>
            <a:ext cx="2331720" cy="658368"/>
          </a:xfrm>
          <a:prstGeom prst="rect">
            <a:avLst/>
          </a:prstGeom>
          <a:noFill/>
          <a:ln/>
        </p:spPr>
        <p:txBody>
          <a:bodyPr wrap="square" rtlCol="0" anchor="ctr"/>
          <a:lstStyle/>
          <a:p>
            <a:pPr marL="0" indent="0" algn="ctr">
              <a:buNone/>
            </a:pPr>
            <a:r>
              <a:rPr lang="en-US" sz="2200" b="1" dirty="0">
                <a:solidFill>
                  <a:srgbClr val="E8A838"/>
                </a:solidFill>
                <a:latin typeface="Calibri" pitchFamily="34" charset="0"/>
                <a:ea typeface="Calibri" pitchFamily="34" charset="-122"/>
                <a:cs typeface="Calibri" pitchFamily="34" charset="-120"/>
              </a:rPr>
              <a:t>5 or 10</a:t>
            </a:r>
            <a:endParaRPr lang="en-US" sz="2200" dirty="0"/>
          </a:p>
        </p:txBody>
      </p:sp>
      <p:sp>
        <p:nvSpPr>
          <p:cNvPr id="16" name="Shape 14"/>
          <p:cNvSpPr/>
          <p:nvPr/>
        </p:nvSpPr>
        <p:spPr>
          <a:xfrm>
            <a:off x="411480" y="2423160"/>
            <a:ext cx="4114800" cy="246888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7" name="Shape 15"/>
          <p:cNvSpPr/>
          <p:nvPr/>
        </p:nvSpPr>
        <p:spPr>
          <a:xfrm>
            <a:off x="411480" y="2423160"/>
            <a:ext cx="54864" cy="2468880"/>
          </a:xfrm>
          <a:prstGeom prst="rect">
            <a:avLst/>
          </a:prstGeom>
          <a:solidFill>
            <a:srgbClr val="0D7377"/>
          </a:solidFill>
          <a:ln w="12700">
            <a:solidFill>
              <a:srgbClr val="0D7377"/>
            </a:solidFill>
            <a:prstDash val="solid"/>
          </a:ln>
        </p:spPr>
      </p:sp>
      <p:sp>
        <p:nvSpPr>
          <p:cNvPr id="18" name="Text 16"/>
          <p:cNvSpPr/>
          <p:nvPr/>
        </p:nvSpPr>
        <p:spPr>
          <a:xfrm>
            <a:off x="640080" y="2487168"/>
            <a:ext cx="3703320" cy="347472"/>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Data Generation</a:t>
            </a:r>
            <a:endParaRPr lang="en-US" sz="1400" dirty="0"/>
          </a:p>
        </p:txBody>
      </p:sp>
      <p:sp>
        <p:nvSpPr>
          <p:cNvPr id="19" name="Text 17"/>
          <p:cNvSpPr/>
          <p:nvPr/>
        </p:nvSpPr>
        <p:spPr>
          <a:xfrm>
            <a:off x="685800" y="2880360"/>
            <a:ext cx="3703320" cy="1783080"/>
          </a:xfrm>
          <a:prstGeom prst="rect">
            <a:avLst/>
          </a:prstGeom>
          <a:noFill/>
          <a:ln/>
        </p:spPr>
        <p:txBody>
          <a:bodyPr wrap="square" rtlCol="0" anchor="ctr"/>
          <a:lstStyle/>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Equal mixing weights: πₘ = 1/G</a:t>
            </a:r>
            <a:endParaRPr lang="en-US" sz="1300" dirty="0"/>
          </a:p>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λₘⱼ drawn uniformly from {2, 3, …, 10}</a:t>
            </a:r>
            <a:endParaRPr lang="en-US" sz="1300" dirty="0"/>
          </a:p>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ωₘⱼ drawn from Uniform(0.1, 0.4)</a:t>
            </a:r>
            <a:endParaRPr lang="en-US" sz="1300" dirty="0"/>
          </a:p>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8 settings from full factorial design (2 × 2 × 2)</a:t>
            </a:r>
            <a:endParaRPr lang="en-US" sz="1300" dirty="0"/>
          </a:p>
          <a:p>
            <a:pPr marL="342900" indent="-342900">
              <a:spcAft>
                <a:spcPts val="400"/>
              </a:spcAft>
              <a:buSzPct val="100000"/>
              <a:buChar char="•"/>
            </a:pPr>
            <a:r>
              <a:rPr lang="en-US" sz="1300" dirty="0">
                <a:solidFill>
                  <a:srgbClr val="4A5568"/>
                </a:solidFill>
                <a:latin typeface="Calibri" pitchFamily="34" charset="0"/>
                <a:ea typeface="Calibri" pitchFamily="34" charset="-122"/>
                <a:cs typeface="Calibri" pitchFamily="34" charset="-120"/>
              </a:rPr>
              <a:t>Clustering evaluated by Adjusted Rand Index (ARI)</a:t>
            </a:r>
            <a:endParaRPr lang="en-US" sz="1300" dirty="0"/>
          </a:p>
        </p:txBody>
      </p:sp>
      <p:sp>
        <p:nvSpPr>
          <p:cNvPr id="20" name="Shape 18"/>
          <p:cNvSpPr/>
          <p:nvPr/>
        </p:nvSpPr>
        <p:spPr>
          <a:xfrm>
            <a:off x="4754880" y="2423160"/>
            <a:ext cx="3977640" cy="246888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21" name="Shape 19"/>
          <p:cNvSpPr/>
          <p:nvPr/>
        </p:nvSpPr>
        <p:spPr>
          <a:xfrm>
            <a:off x="4754880" y="2423160"/>
            <a:ext cx="54864" cy="2468880"/>
          </a:xfrm>
          <a:prstGeom prst="rect">
            <a:avLst/>
          </a:prstGeom>
          <a:solidFill>
            <a:srgbClr val="1B2A4A"/>
          </a:solidFill>
          <a:ln w="12700">
            <a:solidFill>
              <a:srgbClr val="1B2A4A"/>
            </a:solidFill>
            <a:prstDash val="solid"/>
          </a:ln>
        </p:spPr>
      </p:sp>
      <p:sp>
        <p:nvSpPr>
          <p:cNvPr id="22" name="Text 20"/>
          <p:cNvSpPr/>
          <p:nvPr/>
        </p:nvSpPr>
        <p:spPr>
          <a:xfrm>
            <a:off x="4983480" y="2487168"/>
            <a:ext cx="3566160" cy="347472"/>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Methods Compared</a:t>
            </a:r>
            <a:endParaRPr lang="en-US" sz="1400" dirty="0"/>
          </a:p>
        </p:txBody>
      </p:sp>
      <p:sp>
        <p:nvSpPr>
          <p:cNvPr id="23" name="Text 21"/>
          <p:cNvSpPr/>
          <p:nvPr/>
        </p:nvSpPr>
        <p:spPr>
          <a:xfrm>
            <a:off x="5029200" y="2880360"/>
            <a:ext cx="3520440" cy="1783080"/>
          </a:xfrm>
          <a:prstGeom prst="rect">
            <a:avLst/>
          </a:prstGeom>
          <a:noFill/>
          <a:ln/>
        </p:spPr>
        <p:txBody>
          <a:bodyPr wrap="square" rtlCol="0" anchor="ctr"/>
          <a:lstStyle/>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ZIP EM — proposed method (direct ZIP modelling)</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Anscombe + mclust — benchmark (Gaussian EM on transformed data)</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ARI ranges from 0 (random) to 1 (perfect clustering)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Results: ARI Comparison</a:t>
            </a:r>
            <a:endParaRPr lang="en-US" sz="2800" dirty="0"/>
          </a:p>
        </p:txBody>
      </p:sp>
      <p:sp>
        <p:nvSpPr>
          <p:cNvPr id="3" name="Shape 1"/>
          <p:cNvSpPr/>
          <p:nvPr/>
        </p:nvSpPr>
        <p:spPr>
          <a:xfrm>
            <a:off x="411480" y="786384"/>
            <a:ext cx="8321040" cy="32004"/>
          </a:xfrm>
          <a:prstGeom prst="rect">
            <a:avLst/>
          </a:prstGeom>
          <a:solidFill>
            <a:srgbClr val="0D7377"/>
          </a:solidFill>
          <a:ln w="12700">
            <a:solidFill>
              <a:srgbClr val="0D7377"/>
            </a:solidFill>
            <a:prstDash val="solid"/>
          </a:ln>
        </p:spPr>
      </p:sp>
      <p:graphicFrame>
        <p:nvGraphicFramePr>
          <p:cNvPr id="4" name="Chart 0"/>
          <p:cNvGraphicFramePr/>
          <p:nvPr/>
        </p:nvGraphicFramePr>
        <p:xfrm>
          <a:off x="411480" y="914400"/>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760720" y="914400"/>
            <a:ext cx="2926080" cy="365760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6" name="Shape 3"/>
          <p:cNvSpPr/>
          <p:nvPr/>
        </p:nvSpPr>
        <p:spPr>
          <a:xfrm>
            <a:off x="5760720" y="914400"/>
            <a:ext cx="54864" cy="3657600"/>
          </a:xfrm>
          <a:prstGeom prst="rect">
            <a:avLst/>
          </a:prstGeom>
          <a:solidFill>
            <a:srgbClr val="0D7377"/>
          </a:solidFill>
          <a:ln w="12700">
            <a:solidFill>
              <a:srgbClr val="0D7377"/>
            </a:solidFill>
            <a:prstDash val="solid"/>
          </a:ln>
        </p:spPr>
      </p:sp>
      <p:sp>
        <p:nvSpPr>
          <p:cNvPr id="7" name="Text 4"/>
          <p:cNvSpPr/>
          <p:nvPr/>
        </p:nvSpPr>
        <p:spPr>
          <a:xfrm>
            <a:off x="5961888" y="987552"/>
            <a:ext cx="2606040" cy="36576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Summary Table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61888" y="1444752"/>
          <a:ext cx="2606040" cy="1929384"/>
        </p:xfrm>
        <a:graphic>
          <a:graphicData uri="http://schemas.openxmlformats.org/drawingml/2006/table">
            <a:tbl>
              <a:tblPr/>
              <a:tblGrid>
                <a:gridCol w="1303020">
                  <a:extLst>
                    <a:ext uri="{9D8B030D-6E8A-4147-A177-3AD203B41FA5}">
                      <a16:colId xmlns:a16="http://schemas.microsoft.com/office/drawing/2014/main" val="20000"/>
                    </a:ext>
                  </a:extLst>
                </a:gridCol>
                <a:gridCol w="1303020">
                  <a:extLst>
                    <a:ext uri="{9D8B030D-6E8A-4147-A177-3AD203B41FA5}">
                      <a16:colId xmlns:a16="http://schemas.microsoft.com/office/drawing/2014/main" val="20001"/>
                    </a:ext>
                  </a:extLst>
                </a:gridCol>
              </a:tblGrid>
              <a:tr h="33832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ARI</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3832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Anscombe + mclust</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b="1" dirty="0">
                          <a:solidFill>
                            <a:srgbClr val="C53030"/>
                          </a:solidFill>
                          <a:latin typeface="Calibri" pitchFamily="34" charset="0"/>
                          <a:ea typeface="Calibri" pitchFamily="34" charset="-122"/>
                          <a:cs typeface="Calibri" pitchFamily="34" charset="-120"/>
                        </a:rPr>
                        <a:t>0.069</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Poisson EM</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0D7377"/>
                          </a:solidFill>
                          <a:latin typeface="Calibri" pitchFamily="34" charset="0"/>
                          <a:ea typeface="Calibri" pitchFamily="34" charset="-122"/>
                          <a:cs typeface="Calibri" pitchFamily="34" charset="-120"/>
                        </a:rPr>
                        <a:t>0.858</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lgn="ctr">
                        <a:buNone/>
                      </a:pPr>
                      <a:r>
                        <a:rPr lang="en-US" sz="1200" b="1" dirty="0">
                          <a:solidFill>
                            <a:srgbClr val="4A5568"/>
                          </a:solidFill>
                          <a:latin typeface="Calibri" pitchFamily="34" charset="0"/>
                          <a:ea typeface="Calibri" pitchFamily="34" charset="-122"/>
                          <a:cs typeface="Calibri" pitchFamily="34" charset="-120"/>
                        </a:rPr>
                        <a:t>ZIP EM (proposed)</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b="1" dirty="0">
                          <a:solidFill>
                            <a:srgbClr val="1B2A4A"/>
                          </a:solidFill>
                          <a:latin typeface="Calibri" pitchFamily="34" charset="0"/>
                          <a:ea typeface="Calibri" pitchFamily="34" charset="-122"/>
                          <a:cs typeface="Calibri" pitchFamily="34" charset="-120"/>
                        </a:rPr>
                        <a:t>0.896</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flexmix</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718096"/>
                          </a:solidFill>
                          <a:latin typeface="Calibri" pitchFamily="34" charset="0"/>
                          <a:ea typeface="Calibri" pitchFamily="34" charset="-122"/>
                          <a:cs typeface="Calibri" pitchFamily="34" charset="-120"/>
                        </a:rPr>
                        <a:t>0.407</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5"/>
          <p:cNvSpPr/>
          <p:nvPr/>
        </p:nvSpPr>
        <p:spPr>
          <a:xfrm>
            <a:off x="5961888" y="3401568"/>
            <a:ext cx="2606040" cy="1005840"/>
          </a:xfrm>
          <a:prstGeom prst="rect">
            <a:avLst/>
          </a:prstGeom>
          <a:solidFill>
            <a:srgbClr val="EBF4FB"/>
          </a:solidFill>
          <a:ln w="12700">
            <a:solidFill>
              <a:srgbClr val="B8D8ED"/>
            </a:solidFill>
            <a:prstDash val="solid"/>
          </a:ln>
        </p:spPr>
      </p:sp>
      <p:sp>
        <p:nvSpPr>
          <p:cNvPr id="10" name="Text 6"/>
          <p:cNvSpPr/>
          <p:nvPr/>
        </p:nvSpPr>
        <p:spPr>
          <a:xfrm>
            <a:off x="6053328" y="3447288"/>
            <a:ext cx="2423160" cy="914400"/>
          </a:xfrm>
          <a:prstGeom prst="rect">
            <a:avLst/>
          </a:prstGeom>
          <a:noFill/>
          <a:ln/>
        </p:spPr>
        <p:txBody>
          <a:bodyPr wrap="square" rtlCol="0" anchor="ctr"/>
          <a:lstStyle/>
          <a:p>
            <a:pPr marL="0" indent="0" algn="ctr">
              <a:buNone/>
            </a:pPr>
            <a:r>
              <a:rPr lang="en-US" sz="1100" b="1" dirty="0">
                <a:solidFill>
                  <a:srgbClr val="1B2A4A"/>
                </a:solidFill>
                <a:latin typeface="Calibri" pitchFamily="34" charset="0"/>
                <a:ea typeface="Calibri" pitchFamily="34" charset="-122"/>
                <a:cs typeface="Calibri" pitchFamily="34" charset="-120"/>
              </a:rPr>
              <a:t>ZIP EM achieves the highest ARI (0.896) — 13× better than Anscombe + mclust (0.069)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Parameter Recovery: ZIP EM Estimates</a:t>
            </a:r>
            <a:endParaRPr lang="en-US" sz="2800" dirty="0"/>
          </a:p>
        </p:txBody>
      </p:sp>
      <p:sp>
        <p:nvSpPr>
          <p:cNvPr id="3" name="Shape 1"/>
          <p:cNvSpPr/>
          <p:nvPr/>
        </p:nvSpPr>
        <p:spPr>
          <a:xfrm>
            <a:off x="411480" y="786384"/>
            <a:ext cx="8321040" cy="32004"/>
          </a:xfrm>
          <a:prstGeom prst="rect">
            <a:avLst/>
          </a:prstGeom>
          <a:solidFill>
            <a:srgbClr val="0D7377"/>
          </a:solidFill>
          <a:ln w="12700">
            <a:solidFill>
              <a:srgbClr val="0D7377"/>
            </a:solidFill>
            <a:prstDash val="solid"/>
          </a:ln>
        </p:spPr>
      </p:sp>
      <p:sp>
        <p:nvSpPr>
          <p:cNvPr id="4" name="Shape 2"/>
          <p:cNvSpPr/>
          <p:nvPr/>
        </p:nvSpPr>
        <p:spPr>
          <a:xfrm>
            <a:off x="411480" y="914400"/>
            <a:ext cx="4114800" cy="347472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 name="Shape 3"/>
          <p:cNvSpPr/>
          <p:nvPr/>
        </p:nvSpPr>
        <p:spPr>
          <a:xfrm>
            <a:off x="411480" y="914400"/>
            <a:ext cx="54864" cy="3474720"/>
          </a:xfrm>
          <a:prstGeom prst="rect">
            <a:avLst/>
          </a:prstGeom>
          <a:solidFill>
            <a:srgbClr val="0D7377"/>
          </a:solidFill>
          <a:ln w="12700">
            <a:solidFill>
              <a:srgbClr val="0D7377"/>
            </a:solidFill>
            <a:prstDash val="solid"/>
          </a:ln>
        </p:spPr>
      </p:sp>
      <p:sp>
        <p:nvSpPr>
          <p:cNvPr id="6" name="Text 4"/>
          <p:cNvSpPr/>
          <p:nvPr/>
        </p:nvSpPr>
        <p:spPr>
          <a:xfrm>
            <a:off x="640080" y="987552"/>
            <a:ext cx="3703320" cy="36576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Rate Parameters (λ)</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3703320" cy="2304288"/>
        </p:xfrm>
        <a:graphic>
          <a:graphicData uri="http://schemas.openxmlformats.org/drawingml/2006/table">
            <a:tbl>
              <a:tblPr/>
              <a:tblGrid>
                <a:gridCol w="740664">
                  <a:extLst>
                    <a:ext uri="{9D8B030D-6E8A-4147-A177-3AD203B41FA5}">
                      <a16:colId xmlns:a16="http://schemas.microsoft.com/office/drawing/2014/main" val="20000"/>
                    </a:ext>
                  </a:extLst>
                </a:gridCol>
                <a:gridCol w="740664">
                  <a:extLst>
                    <a:ext uri="{9D8B030D-6E8A-4147-A177-3AD203B41FA5}">
                      <a16:colId xmlns:a16="http://schemas.microsoft.com/office/drawing/2014/main" val="20001"/>
                    </a:ext>
                  </a:extLst>
                </a:gridCol>
                <a:gridCol w="740664">
                  <a:extLst>
                    <a:ext uri="{9D8B030D-6E8A-4147-A177-3AD203B41FA5}">
                      <a16:colId xmlns:a16="http://schemas.microsoft.com/office/drawing/2014/main" val="20002"/>
                    </a:ext>
                  </a:extLst>
                </a:gridCol>
                <a:gridCol w="740664">
                  <a:extLst>
                    <a:ext uri="{9D8B030D-6E8A-4147-A177-3AD203B41FA5}">
                      <a16:colId xmlns:a16="http://schemas.microsoft.com/office/drawing/2014/main" val="20003"/>
                    </a:ext>
                  </a:extLst>
                </a:gridCol>
                <a:gridCol w="740664">
                  <a:extLst>
                    <a:ext uri="{9D8B030D-6E8A-4147-A177-3AD203B41FA5}">
                      <a16:colId xmlns:a16="http://schemas.microsoft.com/office/drawing/2014/main" val="20004"/>
                    </a:ext>
                  </a:extLst>
                </a:gridCol>
              </a:tblGrid>
              <a:tr h="38404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True λ₁</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Est. λ₁</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737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True λ₂</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Est. λ₂</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7377"/>
                    </a:solidFill>
                  </a:tcPr>
                </a:tc>
                <a:extLst>
                  <a:ext uri="{0D108BD9-81ED-4DB2-BD59-A6C34878D82A}">
                    <a16:rowId xmlns:a16="http://schemas.microsoft.com/office/drawing/2014/main" val="10000"/>
                  </a:ext>
                </a:extLst>
              </a:tr>
              <a:tr h="38404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j = 1</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1.988</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6.837</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j = 2</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2.862</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8.306</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j = 3</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4.075</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9.172</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j = 4</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2.027</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5.722</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j = 5</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5.234</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9.933</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5"/>
          <p:cNvSpPr/>
          <p:nvPr/>
        </p:nvSpPr>
        <p:spPr>
          <a:xfrm>
            <a:off x="4754880" y="914400"/>
            <a:ext cx="3977640" cy="347472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9" name="Shape 6"/>
          <p:cNvSpPr/>
          <p:nvPr/>
        </p:nvSpPr>
        <p:spPr>
          <a:xfrm>
            <a:off x="4754880" y="914400"/>
            <a:ext cx="54864" cy="3474720"/>
          </a:xfrm>
          <a:prstGeom prst="rect">
            <a:avLst/>
          </a:prstGeom>
          <a:solidFill>
            <a:srgbClr val="1B2A4A"/>
          </a:solidFill>
          <a:ln w="12700">
            <a:solidFill>
              <a:srgbClr val="1B2A4A"/>
            </a:solidFill>
            <a:prstDash val="solid"/>
          </a:ln>
        </p:spPr>
      </p:sp>
      <p:sp>
        <p:nvSpPr>
          <p:cNvPr id="7" name="Text 7"/>
          <p:cNvSpPr/>
          <p:nvPr/>
        </p:nvSpPr>
        <p:spPr>
          <a:xfrm>
            <a:off x="4983480" y="987552"/>
            <a:ext cx="3566160" cy="36576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Zero-Inflation Parameters (ω)</a:t>
            </a:r>
            <a:endParaRPr lang="en-US" sz="14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983480" y="1417320"/>
          <a:ext cx="3566160" cy="2304288"/>
        </p:xfrm>
        <a:graphic>
          <a:graphicData uri="http://schemas.openxmlformats.org/drawingml/2006/table">
            <a:tbl>
              <a:tblPr/>
              <a:tblGrid>
                <a:gridCol w="713232">
                  <a:extLst>
                    <a:ext uri="{9D8B030D-6E8A-4147-A177-3AD203B41FA5}">
                      <a16:colId xmlns:a16="http://schemas.microsoft.com/office/drawing/2014/main" val="20000"/>
                    </a:ext>
                  </a:extLst>
                </a:gridCol>
                <a:gridCol w="713232">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713232">
                  <a:extLst>
                    <a:ext uri="{9D8B030D-6E8A-4147-A177-3AD203B41FA5}">
                      <a16:colId xmlns:a16="http://schemas.microsoft.com/office/drawing/2014/main" val="20003"/>
                    </a:ext>
                  </a:extLst>
                </a:gridCol>
                <a:gridCol w="713232">
                  <a:extLst>
                    <a:ext uri="{9D8B030D-6E8A-4147-A177-3AD203B41FA5}">
                      <a16:colId xmlns:a16="http://schemas.microsoft.com/office/drawing/2014/main" val="20004"/>
                    </a:ext>
                  </a:extLst>
                </a:gridCol>
              </a:tblGrid>
              <a:tr h="38404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True ω₁</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Est. ω₁</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737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True ω₂</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Est. ω₂</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7377"/>
                    </a:solidFill>
                  </a:tcPr>
                </a:tc>
                <a:extLst>
                  <a:ext uri="{0D108BD9-81ED-4DB2-BD59-A6C34878D82A}">
                    <a16:rowId xmlns:a16="http://schemas.microsoft.com/office/drawing/2014/main" val="10000"/>
                  </a:ext>
                </a:extLst>
              </a:tr>
              <a:tr h="38404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j = 1</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0.337</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0.102</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j = 2</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0.269</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0.205</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j = 3</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0.238</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0.135</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j = 4</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0.273</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0.187</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j = 5</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0.380</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0.082</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Text 8"/>
          <p:cNvSpPr/>
          <p:nvPr/>
        </p:nvSpPr>
        <p:spPr>
          <a:xfrm>
            <a:off x="411480" y="4480560"/>
            <a:ext cx="8321040" cy="457200"/>
          </a:xfrm>
          <a:prstGeom prst="rect">
            <a:avLst/>
          </a:prstGeom>
          <a:noFill/>
          <a:ln/>
        </p:spPr>
        <p:txBody>
          <a:bodyPr wrap="square" rtlCol="0" anchor="ctr"/>
          <a:lstStyle/>
          <a:p>
            <a:pPr marL="0" indent="0" algn="ctr">
              <a:buNone/>
            </a:pPr>
            <a:r>
              <a:rPr lang="en-US" sz="1100" i="1" dirty="0">
                <a:solidFill>
                  <a:srgbClr val="718096"/>
                </a:solidFill>
                <a:latin typeface="Calibri" pitchFamily="34" charset="0"/>
                <a:ea typeface="Calibri" pitchFamily="34" charset="-122"/>
                <a:cs typeface="Calibri" pitchFamily="34" charset="-120"/>
              </a:rPr>
              <a:t>Labels permuted to align with true components (label-switching). Both λ and ω are well-recovered across all features. ZIP EM converged in 43 iterations.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Simulation Study Results</a:t>
            </a:r>
            <a:endParaRPr lang="en-US" sz="2800" dirty="0"/>
          </a:p>
        </p:txBody>
      </p:sp>
      <p:sp>
        <p:nvSpPr>
          <p:cNvPr id="3" name="Shape 1"/>
          <p:cNvSpPr/>
          <p:nvPr/>
        </p:nvSpPr>
        <p:spPr>
          <a:xfrm>
            <a:off x="411480" y="786384"/>
            <a:ext cx="8321040" cy="32004"/>
          </a:xfrm>
          <a:prstGeom prst="rect">
            <a:avLst/>
          </a:prstGeom>
          <a:solidFill>
            <a:srgbClr val="0D7377"/>
          </a:solidFill>
          <a:ln w="12700">
            <a:solidFill>
              <a:srgbClr val="0D7377"/>
            </a:solidFill>
            <a:prstDash val="solid"/>
          </a:ln>
        </p:spPr>
      </p:sp>
      <p:sp>
        <p:nvSpPr>
          <p:cNvPr id="4" name="Shape 2"/>
          <p:cNvSpPr/>
          <p:nvPr/>
        </p:nvSpPr>
        <p:spPr>
          <a:xfrm>
            <a:off x="411480" y="914400"/>
            <a:ext cx="8321040" cy="365760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 name="Shape 3"/>
          <p:cNvSpPr/>
          <p:nvPr/>
        </p:nvSpPr>
        <p:spPr>
          <a:xfrm>
            <a:off x="411480" y="914400"/>
            <a:ext cx="54864" cy="3657600"/>
          </a:xfrm>
          <a:prstGeom prst="rect">
            <a:avLst/>
          </a:prstGeom>
          <a:solidFill>
            <a:srgbClr val="0D7377"/>
          </a:solidFill>
          <a:ln w="12700">
            <a:solidFill>
              <a:srgbClr val="0D7377"/>
            </a:solidFill>
            <a:prstDash val="solid"/>
          </a:ln>
        </p:spPr>
      </p:sp>
      <p:sp>
        <p:nvSpPr>
          <p:cNvPr id="6" name="Text 4"/>
          <p:cNvSpPr/>
          <p:nvPr/>
        </p:nvSpPr>
        <p:spPr>
          <a:xfrm>
            <a:off x="640080" y="987552"/>
            <a:ext cx="7909560" cy="36576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ARI across 8 Simulation Settings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7909560" cy="2959608"/>
        </p:xfrm>
        <a:graphic>
          <a:graphicData uri="http://schemas.openxmlformats.org/drawingml/2006/table">
            <a:tbl>
              <a:tblPr/>
              <a:tblGrid>
                <a:gridCol w="1581912">
                  <a:extLst>
                    <a:ext uri="{9D8B030D-6E8A-4147-A177-3AD203B41FA5}">
                      <a16:colId xmlns:a16="http://schemas.microsoft.com/office/drawing/2014/main" val="20000"/>
                    </a:ext>
                  </a:extLst>
                </a:gridCol>
                <a:gridCol w="1581912">
                  <a:extLst>
                    <a:ext uri="{9D8B030D-6E8A-4147-A177-3AD203B41FA5}">
                      <a16:colId xmlns:a16="http://schemas.microsoft.com/office/drawing/2014/main" val="20001"/>
                    </a:ext>
                  </a:extLst>
                </a:gridCol>
                <a:gridCol w="1581912">
                  <a:extLst>
                    <a:ext uri="{9D8B030D-6E8A-4147-A177-3AD203B41FA5}">
                      <a16:colId xmlns:a16="http://schemas.microsoft.com/office/drawing/2014/main" val="20002"/>
                    </a:ext>
                  </a:extLst>
                </a:gridCol>
                <a:gridCol w="1581912">
                  <a:extLst>
                    <a:ext uri="{9D8B030D-6E8A-4147-A177-3AD203B41FA5}">
                      <a16:colId xmlns:a16="http://schemas.microsoft.com/office/drawing/2014/main" val="20003"/>
                    </a:ext>
                  </a:extLst>
                </a:gridCol>
                <a:gridCol w="1581912">
                  <a:extLst>
                    <a:ext uri="{9D8B030D-6E8A-4147-A177-3AD203B41FA5}">
                      <a16:colId xmlns:a16="http://schemas.microsoft.com/office/drawing/2014/main" val="20004"/>
                    </a:ext>
                  </a:extLst>
                </a:gridCol>
              </a:tblGrid>
              <a:tr h="310896">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n</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G</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ARI — Anscombe + mclust</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C53030"/>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ARI — ZIP EM (proposed)</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7377"/>
                    </a:solidFill>
                  </a:tcPr>
                </a:tc>
                <a:extLst>
                  <a:ext uri="{0D108BD9-81ED-4DB2-BD59-A6C34878D82A}">
                    <a16:rowId xmlns:a16="http://schemas.microsoft.com/office/drawing/2014/main" val="10000"/>
                  </a:ext>
                </a:extLst>
              </a:tr>
              <a:tr h="310896">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0.543</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b="1" dirty="0">
                          <a:solidFill>
                            <a:srgbClr val="4A5568"/>
                          </a:solidFill>
                          <a:latin typeface="Calibri" pitchFamily="34" charset="0"/>
                          <a:ea typeface="Calibri" pitchFamily="34" charset="-122"/>
                          <a:cs typeface="Calibri" pitchFamily="34" charset="-120"/>
                        </a:rPr>
                        <a:t>0.845</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300</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C53030"/>
                          </a:solidFill>
                          <a:latin typeface="Calibri" pitchFamily="34" charset="0"/>
                          <a:ea typeface="Calibri" pitchFamily="34" charset="-122"/>
                          <a:cs typeface="Calibri" pitchFamily="34" charset="-120"/>
                        </a:rPr>
                        <a:t>−0.002</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b="1" dirty="0">
                          <a:solidFill>
                            <a:srgbClr val="4A5568"/>
                          </a:solidFill>
                          <a:latin typeface="Calibri" pitchFamily="34" charset="0"/>
                          <a:ea typeface="Calibri" pitchFamily="34" charset="-122"/>
                          <a:cs typeface="Calibri" pitchFamily="34" charset="-120"/>
                        </a:rPr>
                        <a:t>0.739</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C53030"/>
                          </a:solidFill>
                          <a:latin typeface="Calibri" pitchFamily="34" charset="0"/>
                          <a:ea typeface="Calibri" pitchFamily="34" charset="-122"/>
                          <a:cs typeface="Calibri" pitchFamily="34" charset="-120"/>
                        </a:rPr>
                        <a:t>0.067</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b="1" dirty="0">
                          <a:solidFill>
                            <a:srgbClr val="4A5568"/>
                          </a:solidFill>
                          <a:latin typeface="Calibri" pitchFamily="34" charset="0"/>
                          <a:ea typeface="Calibri" pitchFamily="34" charset="-122"/>
                          <a:cs typeface="Calibri" pitchFamily="34" charset="-120"/>
                        </a:rPr>
                        <a:t>0.509</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300</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C53030"/>
                          </a:solidFill>
                          <a:latin typeface="Calibri" pitchFamily="34" charset="0"/>
                          <a:ea typeface="Calibri" pitchFamily="34" charset="-122"/>
                          <a:cs typeface="Calibri" pitchFamily="34" charset="-120"/>
                        </a:rPr>
                        <a:t>0.018</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b="1" dirty="0">
                          <a:solidFill>
                            <a:srgbClr val="4A5568"/>
                          </a:solidFill>
                          <a:latin typeface="Calibri" pitchFamily="34" charset="0"/>
                          <a:ea typeface="Calibri" pitchFamily="34" charset="-122"/>
                          <a:cs typeface="Calibri" pitchFamily="34" charset="-120"/>
                        </a:rPr>
                        <a:t>0.597</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C53030"/>
                          </a:solidFill>
                          <a:latin typeface="Calibri" pitchFamily="34" charset="0"/>
                          <a:ea typeface="Calibri" pitchFamily="34" charset="-122"/>
                          <a:cs typeface="Calibri" pitchFamily="34" charset="-120"/>
                        </a:rPr>
                        <a:t>0.032</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b="1" dirty="0">
                          <a:solidFill>
                            <a:srgbClr val="4A5568"/>
                          </a:solidFill>
                          <a:latin typeface="Calibri" pitchFamily="34" charset="0"/>
                          <a:ea typeface="Calibri" pitchFamily="34" charset="-122"/>
                          <a:cs typeface="Calibri" pitchFamily="34" charset="-120"/>
                        </a:rPr>
                        <a:t>0.808</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300</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0.118</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b="1" dirty="0">
                          <a:solidFill>
                            <a:srgbClr val="4A5568"/>
                          </a:solidFill>
                          <a:latin typeface="Calibri" pitchFamily="34" charset="0"/>
                          <a:ea typeface="Calibri" pitchFamily="34" charset="-122"/>
                          <a:cs typeface="Calibri" pitchFamily="34" charset="-120"/>
                        </a:rPr>
                        <a:t>0.871</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6"/>
                  </a:ext>
                </a:extLst>
              </a:tr>
              <a:tr h="310896">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C53030"/>
                          </a:solidFill>
                          <a:latin typeface="Calibri" pitchFamily="34" charset="0"/>
                          <a:ea typeface="Calibri" pitchFamily="34" charset="-122"/>
                          <a:cs typeface="Calibri" pitchFamily="34" charset="-120"/>
                        </a:rPr>
                        <a:t>0.078</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b="1" dirty="0">
                          <a:solidFill>
                            <a:srgbClr val="4A5568"/>
                          </a:solidFill>
                          <a:latin typeface="Calibri" pitchFamily="34" charset="0"/>
                          <a:ea typeface="Calibri" pitchFamily="34" charset="-122"/>
                          <a:cs typeface="Calibri" pitchFamily="34" charset="-120"/>
                        </a:rPr>
                        <a:t>0.706</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7"/>
                  </a:ext>
                </a:extLst>
              </a:tr>
              <a:tr h="310896">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300</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dirty="0">
                          <a:solidFill>
                            <a:srgbClr val="4A5568"/>
                          </a:solidFill>
                          <a:latin typeface="Calibri" pitchFamily="34" charset="0"/>
                          <a:ea typeface="Calibri" pitchFamily="34" charset="-122"/>
                          <a:cs typeface="Calibri" pitchFamily="34" charset="-120"/>
                        </a:rPr>
                        <a:t>0.481</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50" b="1" dirty="0">
                          <a:solidFill>
                            <a:srgbClr val="4A5568"/>
                          </a:solidFill>
                          <a:latin typeface="Calibri" pitchFamily="34" charset="0"/>
                          <a:ea typeface="Calibri" pitchFamily="34" charset="-122"/>
                          <a:cs typeface="Calibri" pitchFamily="34" charset="-120"/>
                        </a:rPr>
                        <a:t>0.856</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Text 5"/>
          <p:cNvSpPr/>
          <p:nvPr/>
        </p:nvSpPr>
        <p:spPr>
          <a:xfrm>
            <a:off x="411480" y="4526280"/>
            <a:ext cx="8321040" cy="384048"/>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ZIP EM consistently outperforms Anscombe + mclust across ALL 8 settings, even with negative ARI from Anscombe in some cases.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94360"/>
          </a:xfrm>
          <a:prstGeom prst="rect">
            <a:avLst/>
          </a:prstGeom>
          <a:noFill/>
          <a:ln/>
        </p:spPr>
        <p:txBody>
          <a:bodyPr wrap="square" lIns="0" tIns="0" rIns="0" bIns="0" rtlCol="0" anchor="ctr"/>
          <a:lstStyle/>
          <a:p>
            <a:pPr marL="0" indent="0" algn="l">
              <a:buNone/>
            </a:pPr>
            <a:r>
              <a:rPr lang="en-US" sz="2800" b="1" dirty="0">
                <a:solidFill>
                  <a:srgbClr val="1B2A4A"/>
                </a:solidFill>
                <a:latin typeface="Calibri" pitchFamily="34" charset="0"/>
                <a:ea typeface="Calibri" pitchFamily="34" charset="-122"/>
                <a:cs typeface="Calibri" pitchFamily="34" charset="-120"/>
              </a:rPr>
              <a:t>Computational Performance</a:t>
            </a:r>
            <a:endParaRPr lang="en-US" sz="2800" dirty="0"/>
          </a:p>
        </p:txBody>
      </p:sp>
      <p:sp>
        <p:nvSpPr>
          <p:cNvPr id="3" name="Shape 1"/>
          <p:cNvSpPr/>
          <p:nvPr/>
        </p:nvSpPr>
        <p:spPr>
          <a:xfrm>
            <a:off x="411480" y="786384"/>
            <a:ext cx="8321040" cy="32004"/>
          </a:xfrm>
          <a:prstGeom prst="rect">
            <a:avLst/>
          </a:prstGeom>
          <a:solidFill>
            <a:srgbClr val="0D7377"/>
          </a:solidFill>
          <a:ln w="12700">
            <a:solidFill>
              <a:srgbClr val="0D7377"/>
            </a:solidFill>
            <a:prstDash val="solid"/>
          </a:ln>
        </p:spPr>
      </p:sp>
      <p:graphicFrame>
        <p:nvGraphicFramePr>
          <p:cNvPr id="4" name="Chart 0"/>
          <p:cNvGraphicFramePr/>
          <p:nvPr/>
        </p:nvGraphicFramePr>
        <p:xfrm>
          <a:off x="411480" y="914400"/>
          <a:ext cx="50292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669280" y="914400"/>
            <a:ext cx="3063240" cy="365760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6" name="Shape 3"/>
          <p:cNvSpPr/>
          <p:nvPr/>
        </p:nvSpPr>
        <p:spPr>
          <a:xfrm>
            <a:off x="5669280" y="914400"/>
            <a:ext cx="54864" cy="3657600"/>
          </a:xfrm>
          <a:prstGeom prst="rect">
            <a:avLst/>
          </a:prstGeom>
          <a:solidFill>
            <a:srgbClr val="0D7377"/>
          </a:solidFill>
          <a:ln w="12700">
            <a:solidFill>
              <a:srgbClr val="0D7377"/>
            </a:solidFill>
            <a:prstDash val="solid"/>
          </a:ln>
        </p:spPr>
      </p:sp>
      <p:sp>
        <p:nvSpPr>
          <p:cNvPr id="7" name="Text 4"/>
          <p:cNvSpPr/>
          <p:nvPr/>
        </p:nvSpPr>
        <p:spPr>
          <a:xfrm>
            <a:off x="5897880" y="987552"/>
            <a:ext cx="2651760" cy="36576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Microbenchmark Summary</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897880" y="1444752"/>
          <a:ext cx="2651760" cy="1389888"/>
        </p:xfrm>
        <a:graphic>
          <a:graphicData uri="http://schemas.openxmlformats.org/drawingml/2006/table">
            <a:tbl>
              <a:tblPr/>
              <a:tblGrid>
                <a:gridCol w="13258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310896">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Median (ms)</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10896">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Anscombe + mclust</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79.3</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Poisson EM</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17.1</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ZIP EM</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27.1</a:t>
                      </a:r>
                      <a:endParaRPr lang="en-US" sz="12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5"/>
          <p:cNvSpPr/>
          <p:nvPr/>
        </p:nvSpPr>
        <p:spPr>
          <a:xfrm>
            <a:off x="5897880" y="2944368"/>
            <a:ext cx="2651760" cy="45720"/>
          </a:xfrm>
          <a:prstGeom prst="rect">
            <a:avLst/>
          </a:prstGeom>
          <a:solidFill>
            <a:srgbClr val="D1D5DB"/>
          </a:solidFill>
          <a:ln w="12700">
            <a:solidFill>
              <a:srgbClr val="D1D5DB"/>
            </a:solidFill>
            <a:prstDash val="solid"/>
          </a:ln>
        </p:spPr>
      </p:sp>
      <p:sp>
        <p:nvSpPr>
          <p:cNvPr id="10" name="Text 6"/>
          <p:cNvSpPr/>
          <p:nvPr/>
        </p:nvSpPr>
        <p:spPr>
          <a:xfrm>
            <a:off x="5897880" y="3063240"/>
            <a:ext cx="2651760" cy="1325880"/>
          </a:xfrm>
          <a:prstGeom prst="rect">
            <a:avLst/>
          </a:prstGeom>
          <a:noFill/>
          <a:ln/>
        </p:spPr>
        <p:txBody>
          <a:bodyPr wrap="square"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ZIP EM is 3× faster than mclust</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ZIP EM adds only 10ms over Poisson EM</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Based on 10 repeated runs (microbenchmark)</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n=300, G=2, p=5 (practical setting)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7132320" y="0"/>
            <a:ext cx="2011680" cy="5143500"/>
          </a:xfrm>
          <a:prstGeom prst="rect">
            <a:avLst/>
          </a:prstGeom>
          <a:solidFill>
            <a:srgbClr val="0D7377">
              <a:alpha val="20000"/>
            </a:srgbClr>
          </a:solidFill>
          <a:ln w="12700">
            <a:solidFill>
              <a:srgbClr val="0D7377"/>
            </a:solidFill>
            <a:prstDash val="solid"/>
          </a:ln>
        </p:spPr>
      </p:sp>
      <p:sp>
        <p:nvSpPr>
          <p:cNvPr id="3" name="Text 1"/>
          <p:cNvSpPr/>
          <p:nvPr/>
        </p:nvSpPr>
        <p:spPr>
          <a:xfrm>
            <a:off x="411480" y="164592"/>
            <a:ext cx="658368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Conclusions &amp; Future Work</a:t>
            </a:r>
            <a:endParaRPr lang="en-US" sz="2800" dirty="0"/>
          </a:p>
        </p:txBody>
      </p:sp>
      <p:sp>
        <p:nvSpPr>
          <p:cNvPr id="4" name="Shape 2"/>
          <p:cNvSpPr/>
          <p:nvPr/>
        </p:nvSpPr>
        <p:spPr>
          <a:xfrm>
            <a:off x="411480" y="786384"/>
            <a:ext cx="6583680" cy="32004"/>
          </a:xfrm>
          <a:prstGeom prst="rect">
            <a:avLst/>
          </a:prstGeom>
          <a:solidFill>
            <a:srgbClr val="E8A838"/>
          </a:solidFill>
          <a:ln w="12700">
            <a:solidFill>
              <a:srgbClr val="E8A838"/>
            </a:solidFill>
            <a:prstDash val="solid"/>
          </a:ln>
        </p:spPr>
      </p:sp>
      <p:sp>
        <p:nvSpPr>
          <p:cNvPr id="5" name="Shape 3"/>
          <p:cNvSpPr/>
          <p:nvPr/>
        </p:nvSpPr>
        <p:spPr>
          <a:xfrm>
            <a:off x="411480" y="960120"/>
            <a:ext cx="3931920" cy="379476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6" name="Shape 4"/>
          <p:cNvSpPr/>
          <p:nvPr/>
        </p:nvSpPr>
        <p:spPr>
          <a:xfrm>
            <a:off x="411480" y="960120"/>
            <a:ext cx="54864" cy="3794760"/>
          </a:xfrm>
          <a:prstGeom prst="rect">
            <a:avLst/>
          </a:prstGeom>
          <a:solidFill>
            <a:srgbClr val="0D7377"/>
          </a:solidFill>
          <a:ln w="12700">
            <a:solidFill>
              <a:srgbClr val="0D7377"/>
            </a:solidFill>
            <a:prstDash val="solid"/>
          </a:ln>
        </p:spPr>
      </p:sp>
      <p:sp>
        <p:nvSpPr>
          <p:cNvPr id="7" name="Text 5"/>
          <p:cNvSpPr/>
          <p:nvPr/>
        </p:nvSpPr>
        <p:spPr>
          <a:xfrm>
            <a:off x="640080" y="1033272"/>
            <a:ext cx="352044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Key Conclusions</a:t>
            </a:r>
            <a:endParaRPr lang="en-US" sz="1500" dirty="0"/>
          </a:p>
        </p:txBody>
      </p:sp>
      <p:sp>
        <p:nvSpPr>
          <p:cNvPr id="8" name="Text 6"/>
          <p:cNvSpPr/>
          <p:nvPr/>
        </p:nvSpPr>
        <p:spPr>
          <a:xfrm>
            <a:off x="685800" y="1463040"/>
            <a:ext cx="3520440" cy="3063240"/>
          </a:xfrm>
          <a:prstGeom prst="rect">
            <a:avLst/>
          </a:prstGeom>
          <a:noFill/>
          <a:ln/>
        </p:spPr>
        <p:txBody>
          <a:bodyPr wrap="square" rtlCol="0" anchor="ctr"/>
          <a:lstStyle/>
          <a:p>
            <a:pPr marL="342900" indent="-342900">
              <a:spcAft>
                <a:spcPts val="500"/>
              </a:spcAft>
              <a:buSzPct val="100000"/>
              <a:buChar char="•"/>
            </a:pPr>
            <a:r>
              <a:rPr lang="en-US" sz="1250" dirty="0">
                <a:solidFill>
                  <a:srgbClr val="4A5568"/>
                </a:solidFill>
                <a:latin typeface="Calibri" pitchFamily="34" charset="0"/>
                <a:ea typeface="Calibri" pitchFamily="34" charset="-122"/>
                <a:cs typeface="Calibri" pitchFamily="34" charset="-120"/>
              </a:rPr>
              <a:t>ZIP EM achieved the highest ARI (0.896) in the primary experiment — outperforming all competitors</a:t>
            </a:r>
            <a:endParaRPr lang="en-US" sz="1250" dirty="0"/>
          </a:p>
          <a:p>
            <a:pPr marL="342900" indent="-342900">
              <a:spcAft>
                <a:spcPts val="500"/>
              </a:spcAft>
              <a:buSzPct val="100000"/>
              <a:buChar char="•"/>
            </a:pPr>
            <a:r>
              <a:rPr lang="en-US" sz="1250" dirty="0">
                <a:solidFill>
                  <a:srgbClr val="4A5568"/>
                </a:solidFill>
                <a:latin typeface="Calibri" pitchFamily="34" charset="0"/>
                <a:ea typeface="Calibri" pitchFamily="34" charset="-122"/>
                <a:cs typeface="Calibri" pitchFamily="34" charset="-120"/>
              </a:rPr>
              <a:t>ZIP EM consistently outperformed Anscombe + mclust across all 8 simulation settings</a:t>
            </a:r>
            <a:endParaRPr lang="en-US" sz="1250" dirty="0"/>
          </a:p>
          <a:p>
            <a:pPr marL="342900" indent="-342900">
              <a:spcAft>
                <a:spcPts val="500"/>
              </a:spcAft>
              <a:buSzPct val="100000"/>
              <a:buChar char="•"/>
            </a:pPr>
            <a:r>
              <a:rPr lang="en-US" sz="1250" dirty="0">
                <a:solidFill>
                  <a:srgbClr val="4A5568"/>
                </a:solidFill>
                <a:latin typeface="Calibri" pitchFamily="34" charset="0"/>
                <a:ea typeface="Calibri" pitchFamily="34" charset="-122"/>
                <a:cs typeface="Calibri" pitchFamily="34" charset="-120"/>
              </a:rPr>
              <a:t>Direct count modelling far outperforms variance-stabilising transformations for zero-inflated data</a:t>
            </a:r>
            <a:endParaRPr lang="en-US" sz="1250" dirty="0"/>
          </a:p>
          <a:p>
            <a:pPr marL="342900" indent="-342900">
              <a:spcAft>
                <a:spcPts val="500"/>
              </a:spcAft>
              <a:buSzPct val="100000"/>
              <a:buChar char="•"/>
            </a:pPr>
            <a:r>
              <a:rPr lang="en-US" sz="1250" dirty="0">
                <a:solidFill>
                  <a:srgbClr val="4A5568"/>
                </a:solidFill>
                <a:latin typeface="Calibri" pitchFamily="34" charset="0"/>
                <a:ea typeface="Calibri" pitchFamily="34" charset="-122"/>
                <a:cs typeface="Calibri" pitchFamily="34" charset="-120"/>
              </a:rPr>
              <a:t>ZIP EM recovers λ and ω parameters accurately</a:t>
            </a:r>
            <a:endParaRPr lang="en-US" sz="1250" dirty="0"/>
          </a:p>
          <a:p>
            <a:pPr marL="342900" indent="-342900">
              <a:spcAft>
                <a:spcPts val="500"/>
              </a:spcAft>
              <a:buSzPct val="100000"/>
              <a:buChar char="•"/>
            </a:pPr>
            <a:r>
              <a:rPr lang="en-US" sz="1250" dirty="0">
                <a:solidFill>
                  <a:srgbClr val="4A5568"/>
                </a:solidFill>
                <a:latin typeface="Calibri" pitchFamily="34" charset="0"/>
                <a:ea typeface="Calibri" pitchFamily="34" charset="-122"/>
                <a:cs typeface="Calibri" pitchFamily="34" charset="-120"/>
              </a:rPr>
              <a:t>ZIP EM is computationally efficient — faster than mclust baseline</a:t>
            </a:r>
            <a:endParaRPr lang="en-US" sz="1250" dirty="0"/>
          </a:p>
        </p:txBody>
      </p:sp>
      <p:sp>
        <p:nvSpPr>
          <p:cNvPr id="9" name="Shape 7"/>
          <p:cNvSpPr/>
          <p:nvPr/>
        </p:nvSpPr>
        <p:spPr>
          <a:xfrm>
            <a:off x="4526280" y="960120"/>
            <a:ext cx="3931920" cy="379476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0" name="Shape 8"/>
          <p:cNvSpPr/>
          <p:nvPr/>
        </p:nvSpPr>
        <p:spPr>
          <a:xfrm>
            <a:off x="4526280" y="960120"/>
            <a:ext cx="54864" cy="3794760"/>
          </a:xfrm>
          <a:prstGeom prst="rect">
            <a:avLst/>
          </a:prstGeom>
          <a:solidFill>
            <a:srgbClr val="E8A838"/>
          </a:solidFill>
          <a:ln w="12700">
            <a:solidFill>
              <a:srgbClr val="E8A838"/>
            </a:solidFill>
            <a:prstDash val="solid"/>
          </a:ln>
        </p:spPr>
      </p:sp>
      <p:sp>
        <p:nvSpPr>
          <p:cNvPr id="11" name="Text 9"/>
          <p:cNvSpPr/>
          <p:nvPr/>
        </p:nvSpPr>
        <p:spPr>
          <a:xfrm>
            <a:off x="4754880" y="1033272"/>
            <a:ext cx="352044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Future Work</a:t>
            </a:r>
            <a:endParaRPr lang="en-US" sz="1500" dirty="0"/>
          </a:p>
        </p:txBody>
      </p:sp>
      <p:sp>
        <p:nvSpPr>
          <p:cNvPr id="12" name="Text 10"/>
          <p:cNvSpPr/>
          <p:nvPr/>
        </p:nvSpPr>
        <p:spPr>
          <a:xfrm>
            <a:off x="4800600" y="1463040"/>
            <a:ext cx="3520440" cy="3063240"/>
          </a:xfrm>
          <a:prstGeom prst="rect">
            <a:avLst/>
          </a:prstGeom>
          <a:noFill/>
          <a:ln/>
        </p:spPr>
        <p:txBody>
          <a:bodyPr wrap="square" rtlCol="0" anchor="ctr"/>
          <a:lstStyle/>
          <a:p>
            <a:pPr marL="342900" indent="-342900">
              <a:spcAft>
                <a:spcPts val="500"/>
              </a:spcAft>
              <a:buSzPct val="100000"/>
              <a:buChar char="•"/>
            </a:pPr>
            <a:r>
              <a:rPr lang="en-US" sz="1250" dirty="0">
                <a:solidFill>
                  <a:srgbClr val="4A5568"/>
                </a:solidFill>
                <a:latin typeface="Calibri" pitchFamily="34" charset="0"/>
                <a:ea typeface="Calibri" pitchFamily="34" charset="-122"/>
                <a:cs typeface="Calibri" pitchFamily="34" charset="-120"/>
              </a:rPr>
              <a:t>Conduct a larger simulation study with multiple replications per setting</a:t>
            </a:r>
            <a:endParaRPr lang="en-US" sz="1250" dirty="0"/>
          </a:p>
          <a:p>
            <a:pPr marL="342900" indent="-342900">
              <a:spcAft>
                <a:spcPts val="500"/>
              </a:spcAft>
              <a:buSzPct val="100000"/>
              <a:buChar char="•"/>
            </a:pPr>
            <a:r>
              <a:rPr lang="en-US" sz="1250" dirty="0">
                <a:solidFill>
                  <a:srgbClr val="4A5568"/>
                </a:solidFill>
                <a:latin typeface="Calibri" pitchFamily="34" charset="0"/>
                <a:ea typeface="Calibri" pitchFamily="34" charset="-122"/>
                <a:cs typeface="Calibri" pitchFamily="34" charset="-120"/>
              </a:rPr>
              <a:t>Investigate parameter recovery more rigorously (bias, RMSE across replications)</a:t>
            </a:r>
            <a:endParaRPr lang="en-US" sz="1250" dirty="0"/>
          </a:p>
          <a:p>
            <a:pPr marL="342900" indent="-342900">
              <a:spcAft>
                <a:spcPts val="500"/>
              </a:spcAft>
              <a:buSzPct val="100000"/>
              <a:buChar char="•"/>
            </a:pPr>
            <a:r>
              <a:rPr lang="en-US" sz="1250" dirty="0">
                <a:solidFill>
                  <a:srgbClr val="4A5568"/>
                </a:solidFill>
                <a:latin typeface="Calibri" pitchFamily="34" charset="0"/>
                <a:ea typeface="Calibri" pitchFamily="34" charset="-122"/>
                <a:cs typeface="Calibri" pitchFamily="34" charset="-120"/>
              </a:rPr>
              <a:t>Apply ZIP mixture model to real-world count datasets (e.g. genomics, ecological counts)</a:t>
            </a:r>
            <a:endParaRPr lang="en-US" sz="1250" dirty="0"/>
          </a:p>
          <a:p>
            <a:pPr marL="342900" indent="-342900">
              <a:spcAft>
                <a:spcPts val="500"/>
              </a:spcAft>
              <a:buSzPct val="100000"/>
              <a:buChar char="•"/>
            </a:pPr>
            <a:r>
              <a:rPr lang="en-US" sz="1250" dirty="0">
                <a:solidFill>
                  <a:srgbClr val="4A5568"/>
                </a:solidFill>
                <a:latin typeface="Calibri" pitchFamily="34" charset="0"/>
                <a:ea typeface="Calibri" pitchFamily="34" charset="-122"/>
                <a:cs typeface="Calibri" pitchFamily="34" charset="-120"/>
              </a:rPr>
              <a:t>Explore Poisson Log-Normal and Negative Binomial mixture models</a:t>
            </a:r>
            <a:endParaRPr lang="en-US" sz="1250" dirty="0"/>
          </a:p>
          <a:p>
            <a:pPr marL="342900" indent="-342900">
              <a:spcAft>
                <a:spcPts val="500"/>
              </a:spcAft>
              <a:buSzPct val="100000"/>
              <a:buChar char="•"/>
            </a:pPr>
            <a:r>
              <a:rPr lang="en-US" sz="1250" dirty="0">
                <a:solidFill>
                  <a:srgbClr val="4A5568"/>
                </a:solidFill>
                <a:latin typeface="Calibri" pitchFamily="34" charset="0"/>
                <a:ea typeface="Calibri" pitchFamily="34" charset="-122"/>
                <a:cs typeface="Calibri" pitchFamily="34" charset="-120"/>
              </a:rPr>
              <a:t>Investigate automatic selection of G using BIC or ICL criteria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402</TotalTime>
  <Words>2295</Words>
  <Application>Microsoft Office PowerPoint</Application>
  <PresentationFormat>On-screen Show (16:9)</PresentationFormat>
  <Paragraphs>313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Zero-Inflated Poisson Mixture Models for Clustering Count Data</dc:title>
  <dc:subject>PptxGenJS Presentation</dc:subject>
  <dc:creator>Ankith Sirnapally</dc:creator>
  <cp:lastModifiedBy>ankith sirnapally</cp:lastModifiedBy>
  <cp:revision>3</cp:revision>
  <dcterms:created xsi:type="dcterms:W3CDTF">2026-05-31T13:20:08Z</dcterms:created>
  <dcterms:modified xsi:type="dcterms:W3CDTF">2026-05-31T20:06:56Z</dcterms:modified>
</cp:coreProperties>
</file>